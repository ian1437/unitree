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0"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5FEC7-843F-BE2A-6059-CB52EF34B42E}" v="334" dt="2024-11-14T23:52:36.170"/>
    <p1510:client id="{6368186C-94A8-F36C-EE2C-F0AF9BC368C0}" v="562" dt="2024-11-15T00:18:41.567"/>
    <p1510:client id="{E8065222-4338-CAC2-B035-E0F88B2493F3}" v="355" dt="2024-11-15T02:56:28.044"/>
    <p1510:client id="{F4E21E93-850F-1167-DF30-0B93F25A8CC6}" v="1082" dt="2024-11-15T02:57:36.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viewProps" Target="viewProps.xml" Id="rId8" /><Relationship Type="http://schemas.openxmlformats.org/officeDocument/2006/relationships/customXml" Target="../customXml/item3.xml" Id="rId3" /><Relationship Type="http://schemas.openxmlformats.org/officeDocument/2006/relationships/presProps" Target="presProps.xml" Id="rId7" /><Relationship Type="http://schemas.microsoft.com/office/2015/10/relationships/revisionInfo" Target="revisionInfo.xml" Id="rId12" /><Relationship Type="http://schemas.openxmlformats.org/officeDocument/2006/relationships/customXml" Target="../customXml/item2.xml" Id="rId2" /><Relationship Type="http://schemas.openxmlformats.org/officeDocument/2006/relationships/customXml" Target="../customXml/item1.xml" Id="rId1" /><Relationship Type="http://schemas.openxmlformats.org/officeDocument/2006/relationships/notesMaster" Target="notesMasters/notesMaster1.xml" Id="rId6" /><Relationship Type="http://schemas.openxmlformats.org/officeDocument/2006/relationships/slide" Target="slides/slide1.xml" Id="rId5" /><Relationship Type="http://schemas.openxmlformats.org/officeDocument/2006/relationships/tableStyles" Target="tableStyles.xml" Id="rId10" /><Relationship Type="http://schemas.openxmlformats.org/officeDocument/2006/relationships/slideMaster" Target="slideMasters/slideMaster1.xml" Id="rId4" /><Relationship Type="http://schemas.openxmlformats.org/officeDocument/2006/relationships/theme" Target="theme/theme1.xml" Id="rId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11/14/2024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40831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5" y="478769"/>
            <a:ext cx="6343656" cy="724747"/>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latin typeface="Lato" panose="020F0502020204030203" pitchFamily="34" charset="0"/>
                <a:ea typeface="Lato" panose="020F0502020204030203" pitchFamily="34" charset="0"/>
                <a:cs typeface="Lato" panose="020F0502020204030203" pitchFamily="34" charset="0"/>
              </a:rPr>
              <a:t>Faculty Advisor</a:t>
            </a:r>
            <a:endParaRPr lang="en-US" sz="144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606807" y="3445468"/>
            <a:ext cx="5854745" cy="899718"/>
          </a:xfrm>
          <a:prstGeom prst="rect">
            <a:avLst/>
          </a:prstGeom>
        </p:spPr>
        <p:txBody>
          <a:bodyPr>
            <a:noAutofit/>
          </a:bodyPr>
          <a:lstStyle>
            <a:lvl1pPr marL="0" indent="0" algn="r">
              <a:buNone/>
              <a:defRPr sz="864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Course Co-ordinator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2024</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9329F4-BC2C-2AD0-9A29-3751215A8AAF}"/>
              </a:ext>
            </a:extLst>
          </p:cNvPr>
          <p:cNvSpPr/>
          <p:nvPr/>
        </p:nvSpPr>
        <p:spPr>
          <a:xfrm>
            <a:off x="1466772" y="5917475"/>
            <a:ext cx="26972933" cy="23188436"/>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1626274" y="2416476"/>
            <a:ext cx="14593744" cy="1431180"/>
          </a:xfrm>
        </p:spPr>
        <p:txBody>
          <a:bodyPr>
            <a:normAutofit/>
          </a:bodyPr>
          <a:lstStyle/>
          <a:p>
            <a:pPr>
              <a:lnSpc>
                <a:spcPct val="120000"/>
              </a:lnSpc>
              <a:spcBef>
                <a:spcPts val="0"/>
              </a:spcBef>
            </a:pPr>
            <a:r>
              <a:rPr lang="en-US">
                <a:solidFill>
                  <a:schemeClr val="bg1"/>
                </a:solidFill>
                <a:latin typeface="Lato" panose="020F0502020204030203" pitchFamily="34" charset="0"/>
                <a:ea typeface="Lato" panose="020F0502020204030203" pitchFamily="34" charset="0"/>
                <a:cs typeface="Lato" panose="020F0502020204030203" pitchFamily="34" charset="0"/>
              </a:rPr>
              <a:t>Department of Electrical Engineering &amp; Computer S</a:t>
            </a:r>
            <a:r>
              <a:rPr lang="en-US">
                <a:latin typeface="Lato" panose="020F0502020204030203" pitchFamily="34" charset="0"/>
                <a:ea typeface="Lato" panose="020F0502020204030203" pitchFamily="34" charset="0"/>
                <a:cs typeface="Lato" panose="020F0502020204030203" pitchFamily="34" charset="0"/>
              </a:rPr>
              <a:t>cience</a:t>
            </a:r>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1626274" y="670452"/>
            <a:ext cx="13667040" cy="1646232"/>
          </a:xfrm>
          <a:prstGeom prst="rect">
            <a:avLst/>
          </a:prstGeom>
        </p:spPr>
        <p:txBody>
          <a:bodyPr>
            <a:noAutofit/>
          </a:bodyPr>
          <a:lstStyle/>
          <a:p>
            <a:pPr algn="ctr"/>
            <a:r>
              <a:rPr lang="en-US" sz="5400" b="1" i="0">
                <a:solidFill>
                  <a:srgbClr val="FFFFFF"/>
                </a:solidFill>
                <a:effectLst/>
                <a:latin typeface="-apple-system"/>
              </a:rPr>
              <a:t>Intelligent and Collaborative Autonomous Robots for Real-Time Applications</a:t>
            </a:r>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17790260"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16653155" y="133896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3240" b="0">
                <a:solidFill>
                  <a:schemeClr val="bg1"/>
                </a:solidFill>
              </a:rPr>
              <a:t>Ian Simmons</a:t>
            </a:r>
          </a:p>
          <a:p>
            <a:pPr>
              <a:lnSpc>
                <a:spcPct val="100000"/>
              </a:lnSpc>
            </a:pPr>
            <a:r>
              <a:rPr lang="en-US" sz="3240" b="0">
                <a:solidFill>
                  <a:schemeClr val="bg1"/>
                </a:solidFill>
              </a:rPr>
              <a:t>David </a:t>
            </a:r>
            <a:r>
              <a:rPr lang="en-US" sz="3240" b="0" err="1">
                <a:solidFill>
                  <a:schemeClr val="bg1"/>
                </a:solidFill>
              </a:rPr>
              <a:t>Uzan</a:t>
            </a:r>
            <a:endParaRPr lang="en-US" sz="3240" b="0">
              <a:solidFill>
                <a:schemeClr val="bg1"/>
              </a:solidFill>
            </a:endParaRPr>
          </a:p>
          <a:p>
            <a:pPr>
              <a:lnSpc>
                <a:spcPct val="100000"/>
              </a:lnSpc>
            </a:pPr>
            <a:r>
              <a:rPr lang="en-US" sz="3240" b="0">
                <a:solidFill>
                  <a:schemeClr val="bg1"/>
                </a:solidFill>
              </a:rPr>
              <a:t>John </a:t>
            </a:r>
            <a:r>
              <a:rPr lang="en-US" sz="3240" b="0" err="1">
                <a:solidFill>
                  <a:schemeClr val="bg1"/>
                </a:solidFill>
              </a:rPr>
              <a:t>Sinfuego</a:t>
            </a:r>
            <a:endParaRPr lang="en-US" sz="3240">
              <a:solidFill>
                <a:schemeClr val="bg1"/>
              </a:solidFill>
            </a:endParaRP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3289231"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Advisor &amp; Staff</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05A6504A-4348-D34A-8A53-B525BDB90512}"/>
              </a:ext>
            </a:extLst>
          </p:cNvPr>
          <p:cNvSpPr txBox="1">
            <a:spLocks/>
          </p:cNvSpPr>
          <p:nvPr/>
        </p:nvSpPr>
        <p:spPr>
          <a:xfrm>
            <a:off x="23289230" y="1571784"/>
            <a:ext cx="10367407" cy="1277496"/>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a:solidFill>
                  <a:schemeClr val="bg1"/>
                </a:solidFill>
              </a:rPr>
              <a:t>Dr. Hari </a:t>
            </a:r>
            <a:r>
              <a:rPr lang="en-US" sz="3240" b="0" err="1">
                <a:solidFill>
                  <a:schemeClr val="bg1"/>
                </a:solidFill>
              </a:rPr>
              <a:t>Kalva</a:t>
            </a:r>
            <a:r>
              <a:rPr lang="en-US" sz="3240" b="0">
                <a:solidFill>
                  <a:schemeClr val="bg1"/>
                </a:solidFill>
              </a:rPr>
              <a:t>, </a:t>
            </a:r>
            <a:r>
              <a:rPr lang="en-US" sz="3240" b="0" err="1">
                <a:solidFill>
                  <a:schemeClr val="bg1"/>
                </a:solidFill>
              </a:rPr>
              <a:t>Ashan</a:t>
            </a:r>
            <a:r>
              <a:rPr lang="en-US" sz="3240" b="0">
                <a:solidFill>
                  <a:schemeClr val="bg1"/>
                </a:solidFill>
              </a:rPr>
              <a:t> Perera, and Jefferson Charles </a:t>
            </a:r>
            <a:endParaRPr lang="en-US" sz="2160">
              <a:solidFill>
                <a:schemeClr val="bg1"/>
              </a:solidFill>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9675574" y="588500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9695001" y="6922625"/>
            <a:ext cx="13411439" cy="5462783"/>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4000" b="0">
                <a:latin typeface="Times New Roman"/>
                <a:ea typeface="Lato"/>
                <a:cs typeface="Lato"/>
              </a:rPr>
              <a:t>Creating software that can allow a robot to move by itself given a live feed is an ever-growing necessity as automation becomes more widespread. Our mission with this project is to create an autonomous Unitree Go-1 robot, that would perform a variety of actions based on the objects it is able to detect. With further development, the robot will be able to carry out applications in supplementary services and field uses where conditions may be too hazardous for humans.</a:t>
            </a: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9818705" y="13460287"/>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9818692" y="14543923"/>
            <a:ext cx="13667040" cy="525127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a:latin typeface="Times New Roman"/>
                <a:ea typeface="Lato"/>
                <a:cs typeface="Lato"/>
              </a:rPr>
              <a:t>Using the more capable processing power of the </a:t>
            </a:r>
            <a:r>
              <a:rPr lang="en-US" sz="4000" b="0">
                <a:latin typeface="Times New Roman"/>
                <a:ea typeface="Lato Semibold"/>
                <a:cs typeface="Lato Semibold"/>
              </a:rPr>
              <a:t>NVIDIA Jetson Nano Orin, a</a:t>
            </a:r>
            <a:r>
              <a:rPr lang="en-US" sz="3950" b="0">
                <a:latin typeface="Times New Roman"/>
                <a:ea typeface="Lato"/>
                <a:cs typeface="Lato"/>
              </a:rPr>
              <a:t>n object tracking model named YOLO from </a:t>
            </a:r>
            <a:r>
              <a:rPr lang="en-US" sz="3950" b="0" err="1">
                <a:latin typeface="Times New Roman"/>
                <a:ea typeface="Lato"/>
                <a:cs typeface="Lato"/>
              </a:rPr>
              <a:t>Ultralytics</a:t>
            </a:r>
            <a:r>
              <a:rPr lang="en-US" sz="3950" b="0">
                <a:latin typeface="Times New Roman"/>
                <a:ea typeface="Lato"/>
                <a:cs typeface="Lato"/>
              </a:rPr>
              <a:t> has been incorporated. Using the provided model, the robot will detect an object, if it is one of interest it will execute a predetermined action autonomously. Some examples include directional movement, sending location, object identification, and timestamping.</a:t>
            </a:r>
            <a:endParaRPr lang="en-US"/>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1933662" y="2945865"/>
            <a:ext cx="3086797"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a:solidFill>
                  <a:schemeClr val="bg1"/>
                </a:solidFill>
              </a:rPr>
              <a:t>#10</a:t>
            </a: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3887424" y="3357180"/>
            <a:ext cx="411478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160">
              <a:solidFill>
                <a:schemeClr val="bg1"/>
              </a:solidFill>
            </a:endParaRPr>
          </a:p>
        </p:txBody>
      </p:sp>
      <p:pic>
        <p:nvPicPr>
          <p:cNvPr id="14" name="Picture 13" descr="A person sitting at a desk with a computer and a bottle of water&#10;&#10;Description automatically generated">
            <a:extLst>
              <a:ext uri="{FF2B5EF4-FFF2-40B4-BE49-F238E27FC236}">
                <a16:creationId xmlns:a16="http://schemas.microsoft.com/office/drawing/2014/main" id="{F5D9621C-5BBF-F920-BA6A-8EA18C04AFF5}"/>
              </a:ext>
            </a:extLst>
          </p:cNvPr>
          <p:cNvPicPr>
            <a:picLocks noChangeAspect="1"/>
          </p:cNvPicPr>
          <p:nvPr/>
        </p:nvPicPr>
        <p:blipFill>
          <a:blip r:embed="rId3"/>
          <a:srcRect l="827" t="264" r="578" b="104"/>
          <a:stretch/>
        </p:blipFill>
        <p:spPr>
          <a:xfrm>
            <a:off x="4949745" y="19052364"/>
            <a:ext cx="22078200" cy="9143829"/>
          </a:xfrm>
          <a:prstGeom prst="rect">
            <a:avLst/>
          </a:prstGeom>
        </p:spPr>
      </p:pic>
      <p:pic>
        <p:nvPicPr>
          <p:cNvPr id="2" name="Picture 1" descr="A screen shot of a computer program&#10;&#10;Description automatically generated">
            <a:extLst>
              <a:ext uri="{FF2B5EF4-FFF2-40B4-BE49-F238E27FC236}">
                <a16:creationId xmlns:a16="http://schemas.microsoft.com/office/drawing/2014/main" id="{8387D114-7E82-3A9E-0EC7-2A7C3C1AC1D6}"/>
              </a:ext>
            </a:extLst>
          </p:cNvPr>
          <p:cNvPicPr>
            <a:picLocks noChangeAspect="1"/>
          </p:cNvPicPr>
          <p:nvPr/>
        </p:nvPicPr>
        <p:blipFill>
          <a:blip r:embed="rId4"/>
          <a:stretch>
            <a:fillRect/>
          </a:stretch>
        </p:blipFill>
        <p:spPr>
          <a:xfrm>
            <a:off x="4413802" y="6921407"/>
            <a:ext cx="15184840" cy="9045577"/>
          </a:xfrm>
          <a:prstGeom prst="rect">
            <a:avLst/>
          </a:prstGeom>
        </p:spPr>
      </p:pic>
      <p:pic>
        <p:nvPicPr>
          <p:cNvPr id="9" name="Picture 8" descr="Robot Dog Go1_Bionic quadruped_Go1 robot dog function introduction | Unitree  Robotics">
            <a:extLst>
              <a:ext uri="{FF2B5EF4-FFF2-40B4-BE49-F238E27FC236}">
                <a16:creationId xmlns:a16="http://schemas.microsoft.com/office/drawing/2014/main" id="{2D0042E3-F193-330B-1FAE-9000B8D45788}"/>
              </a:ext>
            </a:extLst>
          </p:cNvPr>
          <p:cNvPicPr>
            <a:picLocks noChangeAspect="1"/>
          </p:cNvPicPr>
          <p:nvPr/>
        </p:nvPicPr>
        <p:blipFill>
          <a:blip r:embed="rId5"/>
          <a:stretch>
            <a:fillRect/>
          </a:stretch>
        </p:blipFill>
        <p:spPr>
          <a:xfrm rot="21060000">
            <a:off x="17681142" y="10605329"/>
            <a:ext cx="8534529" cy="8575754"/>
          </a:xfrm>
          <a:prstGeom prst="rect">
            <a:avLst/>
          </a:prstGeom>
        </p:spPr>
      </p:pic>
      <p:pic>
        <p:nvPicPr>
          <p:cNvPr id="6" name="Picture 5" descr="Jetson Orin Nano Developer Kit User Guide | NVIDIA Developer">
            <a:extLst>
              <a:ext uri="{FF2B5EF4-FFF2-40B4-BE49-F238E27FC236}">
                <a16:creationId xmlns:a16="http://schemas.microsoft.com/office/drawing/2014/main" id="{F1BB3365-8C2E-D44A-BC77-0650A535CC3D}"/>
              </a:ext>
            </a:extLst>
          </p:cNvPr>
          <p:cNvPicPr>
            <a:picLocks noChangeAspect="1"/>
          </p:cNvPicPr>
          <p:nvPr/>
        </p:nvPicPr>
        <p:blipFill>
          <a:blip r:embed="rId6"/>
          <a:stretch>
            <a:fillRect/>
          </a:stretch>
        </p:blipFill>
        <p:spPr>
          <a:xfrm rot="660000">
            <a:off x="21179369" y="6768561"/>
            <a:ext cx="4341412" cy="4293704"/>
          </a:xfrm>
          <a:prstGeom prst="rect">
            <a:avLst/>
          </a:prstGeom>
        </p:spPr>
      </p:pic>
      <p:sp>
        <p:nvSpPr>
          <p:cNvPr id="15" name="TextBox 14">
            <a:extLst>
              <a:ext uri="{FF2B5EF4-FFF2-40B4-BE49-F238E27FC236}">
                <a16:creationId xmlns:a16="http://schemas.microsoft.com/office/drawing/2014/main" id="{98A9CA77-949B-9B61-6520-F819950705F2}"/>
              </a:ext>
            </a:extLst>
          </p:cNvPr>
          <p:cNvSpPr txBox="1"/>
          <p:nvPr/>
        </p:nvSpPr>
        <p:spPr>
          <a:xfrm>
            <a:off x="29813056" y="20848319"/>
            <a:ext cx="14175726" cy="8453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b="1">
                <a:latin typeface="Times New Roman"/>
                <a:ea typeface="+mn-lt"/>
                <a:cs typeface="+mn-lt"/>
              </a:rPr>
              <a:t>Conclusions &amp; Impact </a:t>
            </a:r>
            <a:endParaRPr lang="en-US" sz="5000" b="1">
              <a:latin typeface="Times New Roman"/>
              <a:cs typeface="Times New Roman"/>
            </a:endParaRPr>
          </a:p>
          <a:p>
            <a:endParaRPr lang="en-US" sz="4000">
              <a:latin typeface="Times New Roman"/>
              <a:cs typeface="Times New Roman"/>
            </a:endParaRPr>
          </a:p>
          <a:p>
            <a:pPr>
              <a:spcBef>
                <a:spcPts val="800"/>
              </a:spcBef>
              <a:spcAft>
                <a:spcPts val="800"/>
              </a:spcAft>
            </a:pPr>
            <a:r>
              <a:rPr lang="en-US" sz="4000">
                <a:latin typeface="Times New Roman"/>
                <a:ea typeface="+mn-lt"/>
                <a:cs typeface="+mn-lt"/>
              </a:rPr>
              <a:t>This project highlights the potential of real-time object detection in autonomous robots for industries requiring precise, independent operations. By incorporating YOLOv11, the Uni-Go1 robot, is capable of dynamic object detection and response, enabling applications in monitoring, inspections, and task automation across diverse environments. This contributes to the field of robotics by demonstrating effective AI integration on constrained hardware. In conclusion,  Intelligent and Collaborative Autonomous Robots for Real-Time-Applications advances real-time detection capabilities in autonomous systems.</a:t>
            </a:r>
          </a:p>
          <a:p>
            <a:pPr algn="l"/>
            <a:endParaRPr lang="en-US" sz="4000">
              <a:latin typeface="Times New Roman"/>
              <a:cs typeface="Calibri"/>
            </a:endParaRPr>
          </a:p>
        </p:txBody>
      </p:sp>
    </p:spTree>
    <p:extLst>
      <p:ext uri="{BB962C8B-B14F-4D97-AF65-F5344CB8AC3E}">
        <p14:creationId xmlns:p14="http://schemas.microsoft.com/office/powerpoint/2010/main" val="2438216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58ef55f-b653-4669-97e5-01cd2b0a8979" xsi:nil="true"/>
    <lcf76f155ced4ddcb4097134ff3c332f xmlns="4be49045-f7aa-4f02-a89f-b2426299cef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CA63EC57E567149830A225B344592E1" ma:contentTypeVersion="13" ma:contentTypeDescription="Create a new document." ma:contentTypeScope="" ma:versionID="a8852712c1882ccd849da902cbfe67f4">
  <xsd:schema xmlns:xsd="http://www.w3.org/2001/XMLSchema" xmlns:xs="http://www.w3.org/2001/XMLSchema" xmlns:p="http://schemas.microsoft.com/office/2006/metadata/properties" xmlns:ns2="4be49045-f7aa-4f02-a89f-b2426299cef2" xmlns:ns3="058ef55f-b653-4669-97e5-01cd2b0a8979" targetNamespace="http://schemas.microsoft.com/office/2006/metadata/properties" ma:root="true" ma:fieldsID="e24203e88ed2c7b4f45b38c291f011fe" ns2:_="" ns3:_="">
    <xsd:import namespace="4be49045-f7aa-4f02-a89f-b2426299cef2"/>
    <xsd:import namespace="058ef55f-b653-4669-97e5-01cd2b0a8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9045-f7aa-4f02-a89f-b2426299c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8ef55f-b653-4669-97e5-01cd2b0a897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75017a5-0ad3-4082-b35c-316af742b161}" ma:internalName="TaxCatchAll" ma:showField="CatchAllData" ma:web="058ef55f-b653-4669-97e5-01cd2b0a89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3AA781-035C-4CFF-9A40-127481BE415B}">
  <ds:schemaRefs>
    <ds:schemaRef ds:uri="http://schemas.microsoft.com/sharepoint/v3/contenttype/forms"/>
  </ds:schemaRefs>
</ds:datastoreItem>
</file>

<file path=customXml/itemProps2.xml><?xml version="1.0" encoding="utf-8"?>
<ds:datastoreItem xmlns:ds="http://schemas.openxmlformats.org/officeDocument/2006/customXml" ds:itemID="{22206257-A572-4335-8ABF-838C66108639}">
  <ds:schemaRefs>
    <ds:schemaRef ds:uri="058ef55f-b653-4669-97e5-01cd2b0a8979"/>
    <ds:schemaRef ds:uri="4be49045-f7aa-4f02-a89f-b2426299cef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AF9B449-74BF-42D4-B7B1-A7564B31DF79}">
  <ds:schemaRefs>
    <ds:schemaRef ds:uri="058ef55f-b653-4669-97e5-01cd2b0a8979"/>
    <ds:schemaRef ds:uri="4be49045-f7aa-4f02-a89f-b2426299ce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 2013 - 2022</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Intelligent and Collaborative Autonomous Robots for Real-Time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revision>1</cp:revision>
  <dcterms:created xsi:type="dcterms:W3CDTF">2021-11-24T20:51:02Z</dcterms:created>
  <dcterms:modified xsi:type="dcterms:W3CDTF">2024-11-15T02:58:23Z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0x010100FCA63EC57E567149830A225B344592E1</vt:lpwstr>
  </property>
  <property fmtid="{D5CDD505-2E9C-101B-9397-08002B2CF9AE}" pid="3" name="MediaServiceImageTags">
    <vt:lpwstr/>
  </property>
</Properties>
</file>