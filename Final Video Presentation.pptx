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8288000" cy="10287000"/>
  <p:notesSz cx="6858000" cy="9144000"/>
  <p:embeddedFontLst>
    <p:embeddedFont>
      <p:font typeface="Lato" panose="020F0502020204030203" pitchFamily="34" charset="0"/>
      <p:regular r:id="rId18"/>
      <p:bold r:id="rId19"/>
      <p:italic r:id="rId20"/>
      <p:boldItalic r:id="rId21"/>
    </p:embeddedFont>
    <p:embeddedFont>
      <p:font typeface="Lato Bold" panose="020F0502020204030203" pitchFamily="34" charset="0"/>
      <p:regular r:id="rId22"/>
      <p:bold r:id="rId23"/>
    </p:embeddedFont>
    <p:embeddedFont>
      <p:font typeface="Poppins" panose="00000500000000000000" pitchFamily="2" charset="0"/>
      <p:regular r:id="rId24"/>
      <p:bold r:id="rId25"/>
      <p:italic r:id="rId26"/>
      <p:boldItalic r:id="rId27"/>
    </p:embeddedFont>
    <p:embeddedFont>
      <p:font typeface="Poppins Bold" panose="00000800000000000000" pitchFamily="2"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2FF5B1-EDA3-E6B6-943D-44B6863F20A3}" v="4" dt="2024-12-07T18:05:43.096"/>
    <p1510:client id="{8B7111C3-7C0C-A30D-5ECC-A655F34C9F3D}" v="99" dt="2024-12-08T17:31:43.5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48" y="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Simmons" userId="S::isimmons2012@fau.edu::458843c4-9dce-4d13-adca-2def899c0286" providerId="AD" clId="Web-{5F2FF5B1-EDA3-E6B6-943D-44B6863F20A3}"/>
    <pc:docChg chg="modSld">
      <pc:chgData name="Ian Simmons" userId="S::isimmons2012@fau.edu::458843c4-9dce-4d13-adca-2def899c0286" providerId="AD" clId="Web-{5F2FF5B1-EDA3-E6B6-943D-44B6863F20A3}" dt="2024-12-07T18:05:43.096" v="3" actId="1076"/>
      <pc:docMkLst>
        <pc:docMk/>
      </pc:docMkLst>
      <pc:sldChg chg="modSp">
        <pc:chgData name="Ian Simmons" userId="S::isimmons2012@fau.edu::458843c4-9dce-4d13-adca-2def899c0286" providerId="AD" clId="Web-{5F2FF5B1-EDA3-E6B6-943D-44B6863F20A3}" dt="2024-12-07T18:05:43.096" v="3" actId="1076"/>
        <pc:sldMkLst>
          <pc:docMk/>
          <pc:sldMk cId="0" sldId="259"/>
        </pc:sldMkLst>
        <pc:spChg chg="mod">
          <ac:chgData name="Ian Simmons" userId="S::isimmons2012@fau.edu::458843c4-9dce-4d13-adca-2def899c0286" providerId="AD" clId="Web-{5F2FF5B1-EDA3-E6B6-943D-44B6863F20A3}" dt="2024-12-07T18:05:43.096" v="3" actId="1076"/>
          <ac:spMkLst>
            <pc:docMk/>
            <pc:sldMk cId="0" sldId="259"/>
            <ac:spMk id="6" creationId="{00000000-0000-0000-0000-000000000000}"/>
          </ac:spMkLst>
        </pc:spChg>
        <pc:grpChg chg="mod">
          <ac:chgData name="Ian Simmons" userId="S::isimmons2012@fau.edu::458843c4-9dce-4d13-adca-2def899c0286" providerId="AD" clId="Web-{5F2FF5B1-EDA3-E6B6-943D-44B6863F20A3}" dt="2024-12-07T18:05:27.033" v="1" actId="1076"/>
          <ac:grpSpMkLst>
            <pc:docMk/>
            <pc:sldMk cId="0" sldId="259"/>
            <ac:grpSpMk id="2" creationId="{00000000-0000-0000-0000-000000000000}"/>
          </ac:grpSpMkLst>
        </pc:grpChg>
      </pc:sldChg>
    </pc:docChg>
  </pc:docChgLst>
  <pc:docChgLst>
    <pc:chgData name="Ian Simmons" userId="458843c4-9dce-4d13-adca-2def899c0286" providerId="ADAL" clId="{29ED01AE-CC36-4125-9FEE-6B0308F7BF8C}"/>
    <pc:docChg chg="undo custSel modSld">
      <pc:chgData name="Ian Simmons" userId="458843c4-9dce-4d13-adca-2def899c0286" providerId="ADAL" clId="{29ED01AE-CC36-4125-9FEE-6B0308F7BF8C}" dt="2024-12-07T18:48:30.798" v="144" actId="14100"/>
      <pc:docMkLst>
        <pc:docMk/>
      </pc:docMkLst>
      <pc:sldChg chg="delSp modSp mod">
        <pc:chgData name="Ian Simmons" userId="458843c4-9dce-4d13-adca-2def899c0286" providerId="ADAL" clId="{29ED01AE-CC36-4125-9FEE-6B0308F7BF8C}" dt="2024-12-07T18:48:30.798" v="144" actId="14100"/>
        <pc:sldMkLst>
          <pc:docMk/>
          <pc:sldMk cId="0" sldId="257"/>
        </pc:sldMkLst>
        <pc:spChg chg="mod">
          <ac:chgData name="Ian Simmons" userId="458843c4-9dce-4d13-adca-2def899c0286" providerId="ADAL" clId="{29ED01AE-CC36-4125-9FEE-6B0308F7BF8C}" dt="2024-12-07T18:47:56.915" v="68" actId="20577"/>
          <ac:spMkLst>
            <pc:docMk/>
            <pc:sldMk cId="0" sldId="257"/>
            <ac:spMk id="13" creationId="{00000000-0000-0000-0000-000000000000}"/>
          </ac:spMkLst>
        </pc:spChg>
        <pc:spChg chg="mod">
          <ac:chgData name="Ian Simmons" userId="458843c4-9dce-4d13-adca-2def899c0286" providerId="ADAL" clId="{29ED01AE-CC36-4125-9FEE-6B0308F7BF8C}" dt="2024-12-07T18:48:30.798" v="144" actId="14100"/>
          <ac:spMkLst>
            <pc:docMk/>
            <pc:sldMk cId="0" sldId="257"/>
            <ac:spMk id="14" creationId="{00000000-0000-0000-0000-000000000000}"/>
          </ac:spMkLst>
        </pc:spChg>
        <pc:spChg chg="mod">
          <ac:chgData name="Ian Simmons" userId="458843c4-9dce-4d13-adca-2def899c0286" providerId="ADAL" clId="{29ED01AE-CC36-4125-9FEE-6B0308F7BF8C}" dt="2024-12-07T18:48:24.530" v="142" actId="1038"/>
          <ac:spMkLst>
            <pc:docMk/>
            <pc:sldMk cId="0" sldId="257"/>
            <ac:spMk id="15" creationId="{00000000-0000-0000-0000-000000000000}"/>
          </ac:spMkLst>
        </pc:spChg>
        <pc:spChg chg="mod">
          <ac:chgData name="Ian Simmons" userId="458843c4-9dce-4d13-adca-2def899c0286" providerId="ADAL" clId="{29ED01AE-CC36-4125-9FEE-6B0308F7BF8C}" dt="2024-12-07T18:48:24.530" v="142" actId="1038"/>
          <ac:spMkLst>
            <pc:docMk/>
            <pc:sldMk cId="0" sldId="257"/>
            <ac:spMk id="16" creationId="{00000000-0000-0000-0000-000000000000}"/>
          </ac:spMkLst>
        </pc:spChg>
        <pc:spChg chg="mod">
          <ac:chgData name="Ian Simmons" userId="458843c4-9dce-4d13-adca-2def899c0286" providerId="ADAL" clId="{29ED01AE-CC36-4125-9FEE-6B0308F7BF8C}" dt="2024-12-07T18:48:21.193" v="123" actId="1038"/>
          <ac:spMkLst>
            <pc:docMk/>
            <pc:sldMk cId="0" sldId="257"/>
            <ac:spMk id="17" creationId="{00000000-0000-0000-0000-000000000000}"/>
          </ac:spMkLst>
        </pc:spChg>
        <pc:spChg chg="mod">
          <ac:chgData name="Ian Simmons" userId="458843c4-9dce-4d13-adca-2def899c0286" providerId="ADAL" clId="{29ED01AE-CC36-4125-9FEE-6B0308F7BF8C}" dt="2024-12-07T18:48:21.193" v="123" actId="1038"/>
          <ac:spMkLst>
            <pc:docMk/>
            <pc:sldMk cId="0" sldId="257"/>
            <ac:spMk id="18" creationId="{00000000-0000-0000-0000-000000000000}"/>
          </ac:spMkLst>
        </pc:spChg>
        <pc:spChg chg="del mod">
          <ac:chgData name="Ian Simmons" userId="458843c4-9dce-4d13-adca-2def899c0286" providerId="ADAL" clId="{29ED01AE-CC36-4125-9FEE-6B0308F7BF8C}" dt="2024-12-07T18:46:44.730" v="3" actId="478"/>
          <ac:spMkLst>
            <pc:docMk/>
            <pc:sldMk cId="0" sldId="257"/>
            <ac:spMk id="19" creationId="{00000000-0000-0000-0000-000000000000}"/>
          </ac:spMkLst>
        </pc:spChg>
        <pc:spChg chg="del mod">
          <ac:chgData name="Ian Simmons" userId="458843c4-9dce-4d13-adca-2def899c0286" providerId="ADAL" clId="{29ED01AE-CC36-4125-9FEE-6B0308F7BF8C}" dt="2024-12-07T18:46:51.283" v="7" actId="478"/>
          <ac:spMkLst>
            <pc:docMk/>
            <pc:sldMk cId="0" sldId="257"/>
            <ac:spMk id="20" creationId="{00000000-0000-0000-0000-000000000000}"/>
          </ac:spMkLst>
        </pc:spChg>
        <pc:grpChg chg="mod">
          <ac:chgData name="Ian Simmons" userId="458843c4-9dce-4d13-adca-2def899c0286" providerId="ADAL" clId="{29ED01AE-CC36-4125-9FEE-6B0308F7BF8C}" dt="2024-12-07T18:48:24.530" v="142" actId="1038"/>
          <ac:grpSpMkLst>
            <pc:docMk/>
            <pc:sldMk cId="0" sldId="257"/>
            <ac:grpSpMk id="4" creationId="{00000000-0000-0000-0000-000000000000}"/>
          </ac:grpSpMkLst>
        </pc:grpChg>
        <pc:grpChg chg="mod">
          <ac:chgData name="Ian Simmons" userId="458843c4-9dce-4d13-adca-2def899c0286" providerId="ADAL" clId="{29ED01AE-CC36-4125-9FEE-6B0308F7BF8C}" dt="2024-12-07T18:48:21.193" v="123" actId="1038"/>
          <ac:grpSpMkLst>
            <pc:docMk/>
            <pc:sldMk cId="0" sldId="257"/>
            <ac:grpSpMk id="7" creationId="{00000000-0000-0000-0000-000000000000}"/>
          </ac:grpSpMkLst>
        </pc:grpChg>
        <pc:grpChg chg="del">
          <ac:chgData name="Ian Simmons" userId="458843c4-9dce-4d13-adca-2def899c0286" providerId="ADAL" clId="{29ED01AE-CC36-4125-9FEE-6B0308F7BF8C}" dt="2024-12-07T18:46:40.923" v="0" actId="478"/>
          <ac:grpSpMkLst>
            <pc:docMk/>
            <pc:sldMk cId="0" sldId="257"/>
            <ac:grpSpMk id="9" creationId="{00000000-0000-0000-0000-000000000000}"/>
          </ac:grpSpMkLst>
        </pc:grpChg>
      </pc:sldChg>
    </pc:docChg>
  </pc:docChgLst>
  <pc:docChgLst>
    <pc:chgData name="John Sinfuego" userId="S::jsinfuego2022@fau.edu::b57e3104-e7ca-4e9d-80e8-96acc5bf076e" providerId="AD" clId="Web-{8B7111C3-7C0C-A30D-5ECC-A655F34C9F3D}"/>
    <pc:docChg chg="modSld">
      <pc:chgData name="John Sinfuego" userId="S::jsinfuego2022@fau.edu::b57e3104-e7ca-4e9d-80e8-96acc5bf076e" providerId="AD" clId="Web-{8B7111C3-7C0C-A30D-5ECC-A655F34C9F3D}" dt="2024-12-08T17:30:42.158" v="81"/>
      <pc:docMkLst>
        <pc:docMk/>
      </pc:docMkLst>
      <pc:sldChg chg="modSp">
        <pc:chgData name="John Sinfuego" userId="S::jsinfuego2022@fau.edu::b57e3104-e7ca-4e9d-80e8-96acc5bf076e" providerId="AD" clId="Web-{8B7111C3-7C0C-A30D-5ECC-A655F34C9F3D}" dt="2024-12-08T17:30:42.158" v="81"/>
        <pc:sldMkLst>
          <pc:docMk/>
          <pc:sldMk cId="0" sldId="260"/>
        </pc:sldMkLst>
        <pc:graphicFrameChg chg="mod modGraphic">
          <ac:chgData name="John Sinfuego" userId="S::jsinfuego2022@fau.edu::b57e3104-e7ca-4e9d-80e8-96acc5bf076e" providerId="AD" clId="Web-{8B7111C3-7C0C-A30D-5ECC-A655F34C9F3D}" dt="2024-12-08T17:30:42.158" v="81"/>
          <ac:graphicFrameMkLst>
            <pc:docMk/>
            <pc:sldMk cId="0" sldId="260"/>
            <ac:graphicFrameMk id="12"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2.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3.svg"/><Relationship Id="rId4" Type="http://schemas.openxmlformats.org/officeDocument/2006/relationships/image" Target="../media/image22.sv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28665" y="645697"/>
            <a:ext cx="16598104" cy="995428"/>
            <a:chOff x="0" y="0"/>
            <a:chExt cx="4371517" cy="262170"/>
          </a:xfrm>
        </p:grpSpPr>
        <p:sp>
          <p:nvSpPr>
            <p:cNvPr id="3" name="Freeform 3"/>
            <p:cNvSpPr/>
            <p:nvPr/>
          </p:nvSpPr>
          <p:spPr>
            <a:xfrm>
              <a:off x="0" y="0"/>
              <a:ext cx="4371517" cy="262170"/>
            </a:xfrm>
            <a:custGeom>
              <a:avLst/>
              <a:gdLst/>
              <a:ahLst/>
              <a:cxnLst/>
              <a:rect l="l" t="t" r="r" b="b"/>
              <a:pathLst>
                <a:path w="4371517" h="262170">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txBody>
            <a:bodyPr/>
            <a:lstStyle/>
            <a:p>
              <a:endParaRPr lang="en-US"/>
            </a:p>
          </p:txBody>
        </p:sp>
        <p:sp>
          <p:nvSpPr>
            <p:cNvPr id="4" name="TextBox 4"/>
            <p:cNvSpPr txBox="1"/>
            <p:nvPr/>
          </p:nvSpPr>
          <p:spPr>
            <a:xfrm>
              <a:off x="0" y="-38100"/>
              <a:ext cx="4371517" cy="30027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8236685">
            <a:off x="11815465" y="2671331"/>
            <a:ext cx="8307133" cy="5971964"/>
          </a:xfrm>
          <a:custGeom>
            <a:avLst/>
            <a:gdLst/>
            <a:ahLst/>
            <a:cxnLst/>
            <a:rect l="l" t="t" r="r" b="b"/>
            <a:pathLst>
              <a:path w="8307133" h="5971964">
                <a:moveTo>
                  <a:pt x="0" y="0"/>
                </a:moveTo>
                <a:lnTo>
                  <a:pt x="8307133" y="0"/>
                </a:lnTo>
                <a:lnTo>
                  <a:pt x="8307133" y="5971964"/>
                </a:lnTo>
                <a:lnTo>
                  <a:pt x="0" y="5971964"/>
                </a:lnTo>
                <a:lnTo>
                  <a:pt x="0" y="0"/>
                </a:lnTo>
                <a:close/>
              </a:path>
            </a:pathLst>
          </a:custGeom>
          <a:blipFill>
            <a:blip r:embed="rId2"/>
            <a:stretch>
              <a:fillRect t="-501"/>
            </a:stretch>
          </a:blipFill>
        </p:spPr>
        <p:txBody>
          <a:bodyPr/>
          <a:lstStyle/>
          <a:p>
            <a:endParaRPr lang="en-US"/>
          </a:p>
        </p:txBody>
      </p:sp>
      <p:sp>
        <p:nvSpPr>
          <p:cNvPr id="6" name="Freeform 6"/>
          <p:cNvSpPr/>
          <p:nvPr/>
        </p:nvSpPr>
        <p:spPr>
          <a:xfrm>
            <a:off x="1171305" y="879197"/>
            <a:ext cx="528429" cy="528429"/>
          </a:xfrm>
          <a:custGeom>
            <a:avLst/>
            <a:gdLst/>
            <a:ahLst/>
            <a:cxnLst/>
            <a:rect l="l" t="t" r="r" b="b"/>
            <a:pathLst>
              <a:path w="528429" h="528429">
                <a:moveTo>
                  <a:pt x="0" y="0"/>
                </a:moveTo>
                <a:lnTo>
                  <a:pt x="528429" y="0"/>
                </a:lnTo>
                <a:lnTo>
                  <a:pt x="528429" y="528429"/>
                </a:lnTo>
                <a:lnTo>
                  <a:pt x="0" y="5284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686887" y="3680165"/>
            <a:ext cx="14976347" cy="3963821"/>
          </a:xfrm>
          <a:prstGeom prst="rect">
            <a:avLst/>
          </a:prstGeom>
        </p:spPr>
        <p:txBody>
          <a:bodyPr lIns="0" tIns="0" rIns="0" bIns="0" rtlCol="0" anchor="t">
            <a:spAutoFit/>
          </a:bodyPr>
          <a:lstStyle/>
          <a:p>
            <a:pPr algn="l">
              <a:lnSpc>
                <a:spcPts val="7675"/>
              </a:lnSpc>
            </a:pPr>
            <a:r>
              <a:rPr lang="en-US" sz="6977" b="1">
                <a:solidFill>
                  <a:srgbClr val="FBF9F1"/>
                </a:solidFill>
                <a:latin typeface="Poppins Bold"/>
                <a:ea typeface="Poppins Bold"/>
                <a:cs typeface="Poppins Bold"/>
                <a:sym typeface="Poppins Bold"/>
              </a:rPr>
              <a:t>INTELLIGENT AND COLLABORATIVE AUTONOMOUS ROBOTS FOR REAL-TIME APPLICATIONS</a:t>
            </a:r>
          </a:p>
        </p:txBody>
      </p:sp>
      <p:sp>
        <p:nvSpPr>
          <p:cNvPr id="8" name="TextBox 8"/>
          <p:cNvSpPr txBox="1"/>
          <p:nvPr/>
        </p:nvSpPr>
        <p:spPr>
          <a:xfrm>
            <a:off x="1896669" y="863376"/>
            <a:ext cx="6424794" cy="624223"/>
          </a:xfrm>
          <a:prstGeom prst="rect">
            <a:avLst/>
          </a:prstGeom>
        </p:spPr>
        <p:txBody>
          <a:bodyPr lIns="0" tIns="0" rIns="0" bIns="0" rtlCol="0" anchor="t">
            <a:spAutoFit/>
          </a:bodyPr>
          <a:lstStyle/>
          <a:p>
            <a:pPr algn="l">
              <a:lnSpc>
                <a:spcPts val="5081"/>
              </a:lnSpc>
              <a:spcBef>
                <a:spcPct val="0"/>
              </a:spcBef>
            </a:pPr>
            <a:r>
              <a:rPr lang="en-US" sz="3629">
                <a:solidFill>
                  <a:srgbClr val="E5E1DA"/>
                </a:solidFill>
                <a:latin typeface="Lato"/>
                <a:ea typeface="Lato"/>
                <a:cs typeface="Lato"/>
                <a:sym typeface="Lato"/>
              </a:rPr>
              <a:t>Multimedia Systems Lab, FAU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990108"/>
            <a:ext cx="2867087" cy="3645301"/>
            <a:chOff x="0" y="0"/>
            <a:chExt cx="1100884" cy="1399697"/>
          </a:xfrm>
        </p:grpSpPr>
        <p:sp>
          <p:nvSpPr>
            <p:cNvPr id="3" name="Freeform 3"/>
            <p:cNvSpPr/>
            <p:nvPr/>
          </p:nvSpPr>
          <p:spPr>
            <a:xfrm>
              <a:off x="0" y="0"/>
              <a:ext cx="1100884" cy="1399697"/>
            </a:xfrm>
            <a:custGeom>
              <a:avLst/>
              <a:gdLst/>
              <a:ahLst/>
              <a:cxnLst/>
              <a:rect l="l" t="t" r="r" b="b"/>
              <a:pathLst>
                <a:path w="1100884" h="1399697">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2"/>
              <a:stretch>
                <a:fillRect b="-18051"/>
              </a:stretch>
            </a:blipFill>
          </p:spPr>
          <p:txBody>
            <a:bodyPr/>
            <a:lstStyle/>
            <a:p>
              <a:endParaRPr lang="en-US"/>
            </a:p>
          </p:txBody>
        </p:sp>
      </p:grpSp>
      <p:grpSp>
        <p:nvGrpSpPr>
          <p:cNvPr id="4" name="Group 4"/>
          <p:cNvGrpSpPr/>
          <p:nvPr/>
        </p:nvGrpSpPr>
        <p:grpSpPr>
          <a:xfrm>
            <a:off x="6429313" y="3990108"/>
            <a:ext cx="2867087" cy="3645301"/>
            <a:chOff x="0" y="0"/>
            <a:chExt cx="1100884" cy="1399697"/>
          </a:xfrm>
        </p:grpSpPr>
        <p:sp>
          <p:nvSpPr>
            <p:cNvPr id="5" name="Freeform 5"/>
            <p:cNvSpPr/>
            <p:nvPr/>
          </p:nvSpPr>
          <p:spPr>
            <a:xfrm>
              <a:off x="0" y="0"/>
              <a:ext cx="1100884" cy="1399697"/>
            </a:xfrm>
            <a:custGeom>
              <a:avLst/>
              <a:gdLst/>
              <a:ahLst/>
              <a:cxnLst/>
              <a:rect l="l" t="t" r="r" b="b"/>
              <a:pathLst>
                <a:path w="1100884" h="1399697">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3"/>
              <a:stretch>
                <a:fillRect b="-18051"/>
              </a:stretch>
            </a:blipFill>
          </p:spPr>
          <p:txBody>
            <a:bodyPr/>
            <a:lstStyle/>
            <a:p>
              <a:endParaRPr lang="en-US"/>
            </a:p>
          </p:txBody>
        </p:sp>
      </p:grpSp>
      <p:sp>
        <p:nvSpPr>
          <p:cNvPr id="6" name="Freeform 6"/>
          <p:cNvSpPr/>
          <p:nvPr/>
        </p:nvSpPr>
        <p:spPr>
          <a:xfrm rot="-2181579">
            <a:off x="14622652" y="162339"/>
            <a:ext cx="10128448" cy="10895890"/>
          </a:xfrm>
          <a:custGeom>
            <a:avLst/>
            <a:gdLst/>
            <a:ahLst/>
            <a:cxnLst/>
            <a:rect l="l" t="t" r="r" b="b"/>
            <a:pathLst>
              <a:path w="10128448" h="10895890">
                <a:moveTo>
                  <a:pt x="0" y="0"/>
                </a:moveTo>
                <a:lnTo>
                  <a:pt x="10128447" y="0"/>
                </a:lnTo>
                <a:lnTo>
                  <a:pt x="10128447" y="10895890"/>
                </a:lnTo>
                <a:lnTo>
                  <a:pt x="0" y="10895890"/>
                </a:lnTo>
                <a:lnTo>
                  <a:pt x="0" y="0"/>
                </a:lnTo>
                <a:close/>
              </a:path>
            </a:pathLst>
          </a:custGeom>
          <a:blipFill>
            <a:blip r:embed="rId4"/>
            <a:stretch>
              <a:fillRect l="-157" r="-157"/>
            </a:stretch>
          </a:blipFill>
        </p:spPr>
        <p:txBody>
          <a:bodyPr/>
          <a:lstStyle/>
          <a:p>
            <a:endParaRPr lang="en-US"/>
          </a:p>
        </p:txBody>
      </p:sp>
      <p:grpSp>
        <p:nvGrpSpPr>
          <p:cNvPr id="7" name="Group 7"/>
          <p:cNvGrpSpPr/>
          <p:nvPr/>
        </p:nvGrpSpPr>
        <p:grpSpPr>
          <a:xfrm>
            <a:off x="11382313" y="3990108"/>
            <a:ext cx="2867087" cy="3645301"/>
            <a:chOff x="0" y="0"/>
            <a:chExt cx="1100884" cy="1399697"/>
          </a:xfrm>
        </p:grpSpPr>
        <p:sp>
          <p:nvSpPr>
            <p:cNvPr id="8" name="Freeform 8"/>
            <p:cNvSpPr/>
            <p:nvPr/>
          </p:nvSpPr>
          <p:spPr>
            <a:xfrm>
              <a:off x="0" y="0"/>
              <a:ext cx="1100884" cy="1399697"/>
            </a:xfrm>
            <a:custGeom>
              <a:avLst/>
              <a:gdLst/>
              <a:ahLst/>
              <a:cxnLst/>
              <a:rect l="l" t="t" r="r" b="b"/>
              <a:pathLst>
                <a:path w="1100884" h="1399697">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5"/>
              <a:stretch>
                <a:fillRect t="-3126" b="-14924"/>
              </a:stretch>
            </a:blipFill>
          </p:spPr>
          <p:txBody>
            <a:bodyPr/>
            <a:lstStyle/>
            <a:p>
              <a:endParaRPr lang="en-US"/>
            </a:p>
          </p:txBody>
        </p:sp>
      </p:grpSp>
      <p:sp>
        <p:nvSpPr>
          <p:cNvPr id="11" name="TextBox 11"/>
          <p:cNvSpPr txBox="1"/>
          <p:nvPr/>
        </p:nvSpPr>
        <p:spPr>
          <a:xfrm>
            <a:off x="6071833" y="2008505"/>
            <a:ext cx="4113651" cy="772795"/>
          </a:xfrm>
          <a:prstGeom prst="rect">
            <a:avLst/>
          </a:prstGeom>
        </p:spPr>
        <p:txBody>
          <a:bodyPr lIns="0" tIns="0" rIns="0" bIns="0" rtlCol="0" anchor="t">
            <a:spAutoFit/>
          </a:bodyPr>
          <a:lstStyle/>
          <a:p>
            <a:pPr algn="l">
              <a:lnSpc>
                <a:spcPts val="3079"/>
              </a:lnSpc>
              <a:spcBef>
                <a:spcPct val="0"/>
              </a:spcBef>
            </a:pPr>
            <a:r>
              <a:rPr lang="en-US" sz="2199" dirty="0">
                <a:solidFill>
                  <a:srgbClr val="E5E1DA"/>
                </a:solidFill>
                <a:latin typeface="Lato"/>
                <a:ea typeface="Lato"/>
                <a:cs typeface="Lato"/>
                <a:sym typeface="Lato"/>
              </a:rPr>
              <a:t>Thank you for your time! Reach out to us for questions.</a:t>
            </a:r>
          </a:p>
        </p:txBody>
      </p:sp>
      <p:sp>
        <p:nvSpPr>
          <p:cNvPr id="12" name="TextBox 12"/>
          <p:cNvSpPr txBox="1"/>
          <p:nvPr/>
        </p:nvSpPr>
        <p:spPr>
          <a:xfrm>
            <a:off x="1028700" y="8909050"/>
            <a:ext cx="2867087" cy="349250"/>
          </a:xfrm>
          <a:prstGeom prst="rect">
            <a:avLst/>
          </a:prstGeom>
        </p:spPr>
        <p:txBody>
          <a:bodyPr lIns="0" tIns="0" rIns="0" bIns="0" rtlCol="0" anchor="t">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id="13" name="TextBox 13"/>
          <p:cNvSpPr txBox="1"/>
          <p:nvPr/>
        </p:nvSpPr>
        <p:spPr>
          <a:xfrm>
            <a:off x="1028701" y="8005049"/>
            <a:ext cx="1892632" cy="780983"/>
          </a:xfrm>
          <a:prstGeom prst="rect">
            <a:avLst/>
          </a:prstGeom>
        </p:spPr>
        <p:txBody>
          <a:bodyPr wrap="square" lIns="0" tIns="0" rIns="0" bIns="0" rtlCol="0" anchor="t">
            <a:spAutoFit/>
          </a:bodyPr>
          <a:lstStyle/>
          <a:p>
            <a:pPr algn="l">
              <a:lnSpc>
                <a:spcPts val="3220"/>
              </a:lnSpc>
              <a:spcBef>
                <a:spcPct val="0"/>
              </a:spcBef>
            </a:pPr>
            <a:r>
              <a:rPr lang="en-US" sz="2300" b="1" dirty="0">
                <a:solidFill>
                  <a:srgbClr val="FBF9F1"/>
                </a:solidFill>
                <a:latin typeface="Lato Bold"/>
                <a:ea typeface="Lato Bold"/>
                <a:cs typeface="Lato Bold"/>
                <a:sym typeface="Lato Bold"/>
              </a:rPr>
              <a:t>IAN</a:t>
            </a:r>
          </a:p>
          <a:p>
            <a:pPr algn="l">
              <a:lnSpc>
                <a:spcPts val="3220"/>
              </a:lnSpc>
              <a:spcBef>
                <a:spcPct val="0"/>
              </a:spcBef>
            </a:pPr>
            <a:r>
              <a:rPr lang="en-US" sz="2300" b="1" dirty="0">
                <a:solidFill>
                  <a:srgbClr val="FBF9F1"/>
                </a:solidFill>
                <a:latin typeface="Lato Bold"/>
                <a:ea typeface="Lato Bold"/>
                <a:cs typeface="Lato Bold"/>
                <a:sym typeface="Lato Bold"/>
              </a:rPr>
              <a:t>SIMMONS	</a:t>
            </a:r>
          </a:p>
        </p:txBody>
      </p:sp>
      <p:sp>
        <p:nvSpPr>
          <p:cNvPr id="14" name="TextBox 14"/>
          <p:cNvSpPr txBox="1"/>
          <p:nvPr/>
        </p:nvSpPr>
        <p:spPr>
          <a:xfrm>
            <a:off x="1028699" y="1019174"/>
            <a:ext cx="4113651" cy="1762125"/>
          </a:xfrm>
          <a:prstGeom prst="rect">
            <a:avLst/>
          </a:prstGeom>
        </p:spPr>
        <p:txBody>
          <a:bodyPr wrap="square" lIns="0" tIns="0" rIns="0" bIns="0" rtlCol="0" anchor="t">
            <a:spAutoFit/>
          </a:bodyPr>
          <a:lstStyle/>
          <a:p>
            <a:pPr algn="l">
              <a:lnSpc>
                <a:spcPts val="6600"/>
              </a:lnSpc>
            </a:pPr>
            <a:r>
              <a:rPr lang="en-US" sz="6000" b="1" dirty="0">
                <a:solidFill>
                  <a:srgbClr val="FBF9F1"/>
                </a:solidFill>
                <a:latin typeface="Poppins Bold"/>
                <a:ea typeface="Poppins Bold"/>
                <a:cs typeface="Poppins Bold"/>
                <a:sym typeface="Poppins Bold"/>
              </a:rPr>
              <a:t>MEET THE TEAM</a:t>
            </a:r>
          </a:p>
        </p:txBody>
      </p:sp>
      <p:sp>
        <p:nvSpPr>
          <p:cNvPr id="15" name="TextBox 15"/>
          <p:cNvSpPr txBox="1"/>
          <p:nvPr/>
        </p:nvSpPr>
        <p:spPr>
          <a:xfrm>
            <a:off x="6429313" y="8909050"/>
            <a:ext cx="2867087" cy="349250"/>
          </a:xfrm>
          <a:prstGeom prst="rect">
            <a:avLst/>
          </a:prstGeom>
        </p:spPr>
        <p:txBody>
          <a:bodyPr lIns="0" tIns="0" rIns="0" bIns="0" rtlCol="0" anchor="t">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id="16" name="TextBox 16"/>
          <p:cNvSpPr txBox="1"/>
          <p:nvPr/>
        </p:nvSpPr>
        <p:spPr>
          <a:xfrm>
            <a:off x="6429313" y="8005049"/>
            <a:ext cx="1892632" cy="780983"/>
          </a:xfrm>
          <a:prstGeom prst="rect">
            <a:avLst/>
          </a:prstGeom>
        </p:spPr>
        <p:txBody>
          <a:bodyPr lIns="0" tIns="0" rIns="0" bIns="0" rtlCol="0" anchor="t">
            <a:spAutoFit/>
          </a:bodyPr>
          <a:lstStyle/>
          <a:p>
            <a:pPr algn="l">
              <a:lnSpc>
                <a:spcPts val="3220"/>
              </a:lnSpc>
              <a:spcBef>
                <a:spcPct val="0"/>
              </a:spcBef>
            </a:pPr>
            <a:r>
              <a:rPr lang="en-US" sz="2300" b="1" dirty="0">
                <a:solidFill>
                  <a:srgbClr val="FBF9F1"/>
                </a:solidFill>
                <a:latin typeface="Lato Bold"/>
                <a:ea typeface="Lato Bold"/>
                <a:cs typeface="Lato Bold"/>
                <a:sym typeface="Lato Bold"/>
              </a:rPr>
              <a:t>DAVID </a:t>
            </a:r>
          </a:p>
          <a:p>
            <a:pPr algn="l">
              <a:lnSpc>
                <a:spcPts val="3220"/>
              </a:lnSpc>
              <a:spcBef>
                <a:spcPct val="0"/>
              </a:spcBef>
            </a:pPr>
            <a:r>
              <a:rPr lang="en-US" sz="2300" b="1" dirty="0">
                <a:solidFill>
                  <a:srgbClr val="FBF9F1"/>
                </a:solidFill>
                <a:latin typeface="Lato Bold"/>
                <a:ea typeface="Lato Bold"/>
                <a:cs typeface="Lato Bold"/>
                <a:sym typeface="Lato Bold"/>
              </a:rPr>
              <a:t>UZAN</a:t>
            </a:r>
          </a:p>
        </p:txBody>
      </p:sp>
      <p:sp>
        <p:nvSpPr>
          <p:cNvPr id="17" name="TextBox 17"/>
          <p:cNvSpPr txBox="1"/>
          <p:nvPr/>
        </p:nvSpPr>
        <p:spPr>
          <a:xfrm>
            <a:off x="11382313" y="8909050"/>
            <a:ext cx="2867087" cy="349250"/>
          </a:xfrm>
          <a:prstGeom prst="rect">
            <a:avLst/>
          </a:prstGeom>
        </p:spPr>
        <p:txBody>
          <a:bodyPr lIns="0" tIns="0" rIns="0" bIns="0" rtlCol="0" anchor="t">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id="18" name="TextBox 18"/>
          <p:cNvSpPr txBox="1"/>
          <p:nvPr/>
        </p:nvSpPr>
        <p:spPr>
          <a:xfrm>
            <a:off x="11382313" y="8005049"/>
            <a:ext cx="2237163" cy="780983"/>
          </a:xfrm>
          <a:prstGeom prst="rect">
            <a:avLst/>
          </a:prstGeom>
        </p:spPr>
        <p:txBody>
          <a:bodyPr lIns="0" tIns="0" rIns="0" bIns="0" rtlCol="0" anchor="t">
            <a:spAutoFit/>
          </a:bodyPr>
          <a:lstStyle/>
          <a:p>
            <a:pPr algn="l">
              <a:lnSpc>
                <a:spcPts val="3220"/>
              </a:lnSpc>
              <a:spcBef>
                <a:spcPct val="0"/>
              </a:spcBef>
            </a:pPr>
            <a:r>
              <a:rPr lang="en-US" sz="2300" b="1" dirty="0">
                <a:solidFill>
                  <a:srgbClr val="FBF9F1"/>
                </a:solidFill>
                <a:latin typeface="Lato Bold"/>
                <a:ea typeface="Lato Bold"/>
                <a:cs typeface="Lato Bold"/>
                <a:sym typeface="Lato Bold"/>
              </a:rPr>
              <a:t>JOHN</a:t>
            </a:r>
          </a:p>
          <a:p>
            <a:pPr algn="l">
              <a:lnSpc>
                <a:spcPts val="3220"/>
              </a:lnSpc>
              <a:spcBef>
                <a:spcPct val="0"/>
              </a:spcBef>
            </a:pPr>
            <a:r>
              <a:rPr lang="en-US" sz="2300" b="1" dirty="0">
                <a:solidFill>
                  <a:srgbClr val="FBF9F1"/>
                </a:solidFill>
                <a:latin typeface="Lato Bold"/>
                <a:ea typeface="Lato Bold"/>
                <a:cs typeface="Lato Bold"/>
                <a:sym typeface="Lato Bold"/>
              </a:rPr>
              <a:t>SINFUEGO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542318" flipV="1">
            <a:off x="12037037" y="-95437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2"/>
            <a:stretch>
              <a:fillRect/>
            </a:stretch>
          </a:blipFill>
        </p:spPr>
        <p:txBody>
          <a:bodyPr/>
          <a:lstStyle/>
          <a:p>
            <a:endParaRPr lang="en-US"/>
          </a:p>
        </p:txBody>
      </p:sp>
      <p:grpSp>
        <p:nvGrpSpPr>
          <p:cNvPr id="3" name="Group 3"/>
          <p:cNvGrpSpPr/>
          <p:nvPr/>
        </p:nvGrpSpPr>
        <p:grpSpPr>
          <a:xfrm>
            <a:off x="725985" y="3328464"/>
            <a:ext cx="15148103" cy="6232551"/>
            <a:chOff x="0" y="0"/>
            <a:chExt cx="3989624" cy="1641495"/>
          </a:xfrm>
        </p:grpSpPr>
        <p:sp>
          <p:nvSpPr>
            <p:cNvPr id="4" name="Freeform 4"/>
            <p:cNvSpPr/>
            <p:nvPr/>
          </p:nvSpPr>
          <p:spPr>
            <a:xfrm>
              <a:off x="0" y="0"/>
              <a:ext cx="3989624" cy="1641495"/>
            </a:xfrm>
            <a:custGeom>
              <a:avLst/>
              <a:gdLst/>
              <a:ahLst/>
              <a:cxnLst/>
              <a:rect l="l" t="t" r="r" b="b"/>
              <a:pathLst>
                <a:path w="3989624" h="1641495">
                  <a:moveTo>
                    <a:pt x="10222" y="0"/>
                  </a:moveTo>
                  <a:lnTo>
                    <a:pt x="3979402" y="0"/>
                  </a:lnTo>
                  <a:cubicBezTo>
                    <a:pt x="3982113" y="0"/>
                    <a:pt x="3984713" y="1077"/>
                    <a:pt x="3986630" y="2994"/>
                  </a:cubicBezTo>
                  <a:cubicBezTo>
                    <a:pt x="3988546" y="4911"/>
                    <a:pt x="3989624" y="7511"/>
                    <a:pt x="3989624" y="10222"/>
                  </a:cubicBezTo>
                  <a:lnTo>
                    <a:pt x="3989624" y="1631273"/>
                  </a:lnTo>
                  <a:cubicBezTo>
                    <a:pt x="3989624" y="1633984"/>
                    <a:pt x="3988546" y="1636584"/>
                    <a:pt x="3986630" y="1638501"/>
                  </a:cubicBezTo>
                  <a:cubicBezTo>
                    <a:pt x="3984713" y="1640418"/>
                    <a:pt x="3982113" y="1641495"/>
                    <a:pt x="3979402" y="1641495"/>
                  </a:cubicBezTo>
                  <a:lnTo>
                    <a:pt x="10222" y="1641495"/>
                  </a:lnTo>
                  <a:cubicBezTo>
                    <a:pt x="7511" y="1641495"/>
                    <a:pt x="4911" y="1640418"/>
                    <a:pt x="2994" y="1638501"/>
                  </a:cubicBezTo>
                  <a:cubicBezTo>
                    <a:pt x="1077" y="1636584"/>
                    <a:pt x="0" y="1633984"/>
                    <a:pt x="0" y="1631273"/>
                  </a:cubicBezTo>
                  <a:lnTo>
                    <a:pt x="0" y="10222"/>
                  </a:lnTo>
                  <a:cubicBezTo>
                    <a:pt x="0" y="7511"/>
                    <a:pt x="1077" y="4911"/>
                    <a:pt x="2994" y="2994"/>
                  </a:cubicBezTo>
                  <a:cubicBezTo>
                    <a:pt x="4911" y="1077"/>
                    <a:pt x="7511" y="0"/>
                    <a:pt x="10222" y="0"/>
                  </a:cubicBezTo>
                  <a:close/>
                </a:path>
              </a:pathLst>
            </a:custGeom>
            <a:solidFill>
              <a:srgbClr val="000000"/>
            </a:solidFill>
            <a:ln w="38100" cap="sq">
              <a:solidFill>
                <a:srgbClr val="E5E1DA"/>
              </a:solidFill>
              <a:prstDash val="solid"/>
              <a:miter/>
            </a:ln>
          </p:spPr>
          <p:txBody>
            <a:bodyPr/>
            <a:lstStyle/>
            <a:p>
              <a:endParaRPr lang="en-US"/>
            </a:p>
          </p:txBody>
        </p:sp>
        <p:sp>
          <p:nvSpPr>
            <p:cNvPr id="5" name="TextBox 5"/>
            <p:cNvSpPr txBox="1"/>
            <p:nvPr/>
          </p:nvSpPr>
          <p:spPr>
            <a:xfrm>
              <a:off x="0" y="-38100"/>
              <a:ext cx="3989624" cy="1679595"/>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147874" y="7962921"/>
            <a:ext cx="5747719" cy="3384081"/>
          </a:xfrm>
          <a:custGeom>
            <a:avLst/>
            <a:gdLst/>
            <a:ahLst/>
            <a:cxnLst/>
            <a:rect l="l" t="t" r="r" b="b"/>
            <a:pathLst>
              <a:path w="5747719" h="3384081">
                <a:moveTo>
                  <a:pt x="0" y="0"/>
                </a:moveTo>
                <a:lnTo>
                  <a:pt x="5747719" y="0"/>
                </a:lnTo>
                <a:lnTo>
                  <a:pt x="5747719" y="3384080"/>
                </a:lnTo>
                <a:lnTo>
                  <a:pt x="0" y="3384080"/>
                </a:lnTo>
                <a:lnTo>
                  <a:pt x="0" y="0"/>
                </a:lnTo>
                <a:close/>
              </a:path>
            </a:pathLst>
          </a:custGeom>
          <a:blipFill>
            <a:blip r:embed="rId3"/>
            <a:stretch>
              <a:fillRect l="-18302" b="-143185"/>
            </a:stretch>
          </a:blipFill>
        </p:spPr>
        <p:txBody>
          <a:bodyPr/>
          <a:lstStyle/>
          <a:p>
            <a:endParaRPr lang="en-US"/>
          </a:p>
        </p:txBody>
      </p:sp>
      <p:sp>
        <p:nvSpPr>
          <p:cNvPr id="7" name="Freeform 7"/>
          <p:cNvSpPr/>
          <p:nvPr/>
        </p:nvSpPr>
        <p:spPr>
          <a:xfrm>
            <a:off x="14977667" y="1839074"/>
            <a:ext cx="896420" cy="896420"/>
          </a:xfrm>
          <a:custGeom>
            <a:avLst/>
            <a:gdLst/>
            <a:ahLst/>
            <a:cxnLst/>
            <a:rect l="l" t="t" r="r" b="b"/>
            <a:pathLst>
              <a:path w="896420" h="896420">
                <a:moveTo>
                  <a:pt x="0" y="0"/>
                </a:moveTo>
                <a:lnTo>
                  <a:pt x="896421" y="0"/>
                </a:lnTo>
                <a:lnTo>
                  <a:pt x="896421"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725985" y="713019"/>
            <a:ext cx="7273915" cy="2022475"/>
          </a:xfrm>
          <a:prstGeom prst="rect">
            <a:avLst/>
          </a:prstGeom>
        </p:spPr>
        <p:txBody>
          <a:bodyPr lIns="0" tIns="0" rIns="0" bIns="0" rtlCol="0" anchor="t">
            <a:spAutoFit/>
          </a:bodyPr>
          <a:lstStyle/>
          <a:p>
            <a:pPr algn="l">
              <a:lnSpc>
                <a:spcPts val="7699"/>
              </a:lnSpc>
            </a:pPr>
            <a:r>
              <a:rPr lang="en-US" sz="6999" b="1">
                <a:solidFill>
                  <a:srgbClr val="FBF9F1"/>
                </a:solidFill>
                <a:latin typeface="Poppins Bold"/>
                <a:ea typeface="Poppins Bold"/>
                <a:cs typeface="Poppins Bold"/>
                <a:sym typeface="Poppins Bold"/>
              </a:rPr>
              <a:t>TODAY'S AGENDA</a:t>
            </a:r>
          </a:p>
        </p:txBody>
      </p:sp>
      <p:sp>
        <p:nvSpPr>
          <p:cNvPr id="9" name="TextBox 9"/>
          <p:cNvSpPr txBox="1"/>
          <p:nvPr/>
        </p:nvSpPr>
        <p:spPr>
          <a:xfrm>
            <a:off x="2224052" y="3934895"/>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Introduction</a:t>
            </a:r>
          </a:p>
        </p:txBody>
      </p:sp>
      <p:sp>
        <p:nvSpPr>
          <p:cNvPr id="10" name="TextBox 10"/>
          <p:cNvSpPr txBox="1"/>
          <p:nvPr/>
        </p:nvSpPr>
        <p:spPr>
          <a:xfrm>
            <a:off x="1525526" y="3934895"/>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1</a:t>
            </a:r>
          </a:p>
        </p:txBody>
      </p:sp>
      <p:sp>
        <p:nvSpPr>
          <p:cNvPr id="11" name="TextBox 11"/>
          <p:cNvSpPr txBox="1"/>
          <p:nvPr/>
        </p:nvSpPr>
        <p:spPr>
          <a:xfrm>
            <a:off x="2224052" y="5073670"/>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Goals</a:t>
            </a:r>
          </a:p>
        </p:txBody>
      </p:sp>
      <p:sp>
        <p:nvSpPr>
          <p:cNvPr id="12" name="TextBox 12"/>
          <p:cNvSpPr txBox="1"/>
          <p:nvPr/>
        </p:nvSpPr>
        <p:spPr>
          <a:xfrm>
            <a:off x="1525526" y="5073670"/>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2</a:t>
            </a:r>
          </a:p>
        </p:txBody>
      </p:sp>
      <p:sp>
        <p:nvSpPr>
          <p:cNvPr id="13" name="TextBox 13"/>
          <p:cNvSpPr txBox="1"/>
          <p:nvPr/>
        </p:nvSpPr>
        <p:spPr>
          <a:xfrm>
            <a:off x="2224052" y="6210320"/>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Requirements/Constraints</a:t>
            </a:r>
          </a:p>
        </p:txBody>
      </p:sp>
      <p:sp>
        <p:nvSpPr>
          <p:cNvPr id="14" name="TextBox 14"/>
          <p:cNvSpPr txBox="1"/>
          <p:nvPr/>
        </p:nvSpPr>
        <p:spPr>
          <a:xfrm>
            <a:off x="1525526" y="6210320"/>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3</a:t>
            </a:r>
          </a:p>
        </p:txBody>
      </p:sp>
      <p:sp>
        <p:nvSpPr>
          <p:cNvPr id="15" name="TextBox 15"/>
          <p:cNvSpPr txBox="1"/>
          <p:nvPr/>
        </p:nvSpPr>
        <p:spPr>
          <a:xfrm>
            <a:off x="2224052" y="7346970"/>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Design </a:t>
            </a:r>
          </a:p>
        </p:txBody>
      </p:sp>
      <p:sp>
        <p:nvSpPr>
          <p:cNvPr id="16" name="TextBox 16"/>
          <p:cNvSpPr txBox="1"/>
          <p:nvPr/>
        </p:nvSpPr>
        <p:spPr>
          <a:xfrm>
            <a:off x="1525526" y="7346970"/>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4</a:t>
            </a:r>
          </a:p>
        </p:txBody>
      </p:sp>
      <p:sp>
        <p:nvSpPr>
          <p:cNvPr id="17" name="TextBox 17"/>
          <p:cNvSpPr txBox="1"/>
          <p:nvPr/>
        </p:nvSpPr>
        <p:spPr>
          <a:xfrm>
            <a:off x="2224052" y="8483621"/>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Implementation</a:t>
            </a:r>
          </a:p>
        </p:txBody>
      </p:sp>
      <p:sp>
        <p:nvSpPr>
          <p:cNvPr id="18" name="TextBox 18"/>
          <p:cNvSpPr txBox="1"/>
          <p:nvPr/>
        </p:nvSpPr>
        <p:spPr>
          <a:xfrm>
            <a:off x="1525526" y="8483621"/>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5</a:t>
            </a:r>
          </a:p>
        </p:txBody>
      </p:sp>
      <p:sp>
        <p:nvSpPr>
          <p:cNvPr id="19" name="TextBox 19"/>
          <p:cNvSpPr txBox="1"/>
          <p:nvPr/>
        </p:nvSpPr>
        <p:spPr>
          <a:xfrm>
            <a:off x="9621293" y="3935958"/>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Testing</a:t>
            </a:r>
          </a:p>
        </p:txBody>
      </p:sp>
      <p:sp>
        <p:nvSpPr>
          <p:cNvPr id="20" name="TextBox 20"/>
          <p:cNvSpPr txBox="1"/>
          <p:nvPr/>
        </p:nvSpPr>
        <p:spPr>
          <a:xfrm>
            <a:off x="8922767" y="3935958"/>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6</a:t>
            </a:r>
          </a:p>
        </p:txBody>
      </p:sp>
      <p:sp>
        <p:nvSpPr>
          <p:cNvPr id="21" name="TextBox 21"/>
          <p:cNvSpPr txBox="1"/>
          <p:nvPr/>
        </p:nvSpPr>
        <p:spPr>
          <a:xfrm>
            <a:off x="9621293" y="5074733"/>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Discussion</a:t>
            </a:r>
          </a:p>
        </p:txBody>
      </p:sp>
      <p:sp>
        <p:nvSpPr>
          <p:cNvPr id="22" name="TextBox 22"/>
          <p:cNvSpPr txBox="1"/>
          <p:nvPr/>
        </p:nvSpPr>
        <p:spPr>
          <a:xfrm>
            <a:off x="8922767" y="5074733"/>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7</a:t>
            </a:r>
          </a:p>
        </p:txBody>
      </p:sp>
      <p:sp>
        <p:nvSpPr>
          <p:cNvPr id="23" name="TextBox 23"/>
          <p:cNvSpPr txBox="1"/>
          <p:nvPr/>
        </p:nvSpPr>
        <p:spPr>
          <a:xfrm>
            <a:off x="9621293" y="6211383"/>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Conclusion</a:t>
            </a:r>
          </a:p>
        </p:txBody>
      </p:sp>
      <p:sp>
        <p:nvSpPr>
          <p:cNvPr id="24" name="TextBox 24"/>
          <p:cNvSpPr txBox="1"/>
          <p:nvPr/>
        </p:nvSpPr>
        <p:spPr>
          <a:xfrm>
            <a:off x="8922767" y="6211383"/>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8</a:t>
            </a:r>
          </a:p>
        </p:txBody>
      </p:sp>
      <p:sp>
        <p:nvSpPr>
          <p:cNvPr id="25" name="TextBox 25"/>
          <p:cNvSpPr txBox="1"/>
          <p:nvPr/>
        </p:nvSpPr>
        <p:spPr>
          <a:xfrm>
            <a:off x="9621293" y="7348033"/>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Project Demonstration</a:t>
            </a:r>
          </a:p>
        </p:txBody>
      </p:sp>
      <p:sp>
        <p:nvSpPr>
          <p:cNvPr id="26" name="TextBox 26"/>
          <p:cNvSpPr txBox="1"/>
          <p:nvPr/>
        </p:nvSpPr>
        <p:spPr>
          <a:xfrm>
            <a:off x="8922767" y="7348033"/>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9</a:t>
            </a:r>
          </a:p>
        </p:txBody>
      </p:sp>
      <p:sp>
        <p:nvSpPr>
          <p:cNvPr id="27" name="TextBox 27"/>
          <p:cNvSpPr txBox="1"/>
          <p:nvPr/>
        </p:nvSpPr>
        <p:spPr>
          <a:xfrm>
            <a:off x="9621293" y="8484683"/>
            <a:ext cx="5441644" cy="422275"/>
          </a:xfrm>
          <a:prstGeom prst="rect">
            <a:avLst/>
          </a:prstGeom>
        </p:spPr>
        <p:txBody>
          <a:bodyPr lIns="0" tIns="0" rIns="0" bIns="0" rtlCol="0" anchor="t">
            <a:spAutoFit/>
          </a:bodyPr>
          <a:lstStyle/>
          <a:p>
            <a:pPr algn="l">
              <a:lnSpc>
                <a:spcPts val="3499"/>
              </a:lnSpc>
              <a:spcBef>
                <a:spcPct val="0"/>
              </a:spcBef>
            </a:pPr>
            <a:r>
              <a:rPr lang="en-US" sz="2499">
                <a:solidFill>
                  <a:srgbClr val="E5E1DA"/>
                </a:solidFill>
                <a:latin typeface="Lato"/>
                <a:ea typeface="Lato"/>
                <a:cs typeface="Lato"/>
                <a:sym typeface="Lato"/>
              </a:rPr>
              <a:t>Size of Market</a:t>
            </a:r>
          </a:p>
        </p:txBody>
      </p:sp>
      <p:sp>
        <p:nvSpPr>
          <p:cNvPr id="28" name="TextBox 28"/>
          <p:cNvSpPr txBox="1"/>
          <p:nvPr/>
        </p:nvSpPr>
        <p:spPr>
          <a:xfrm>
            <a:off x="8922767" y="8484683"/>
            <a:ext cx="444559" cy="422275"/>
          </a:xfrm>
          <a:prstGeom prst="rect">
            <a:avLst/>
          </a:prstGeom>
        </p:spPr>
        <p:txBody>
          <a:bodyPr lIns="0" tIns="0" rIns="0" bIns="0" rtlCol="0" anchor="t">
            <a:spAutoFit/>
          </a:bodyPr>
          <a:lstStyle/>
          <a:p>
            <a:pPr algn="r">
              <a:lnSpc>
                <a:spcPts val="3499"/>
              </a:lnSpc>
              <a:spcBef>
                <a:spcPct val="0"/>
              </a:spcBef>
            </a:pPr>
            <a:r>
              <a:rPr lang="en-US" sz="2499" b="1">
                <a:solidFill>
                  <a:srgbClr val="FFD944"/>
                </a:solidFill>
                <a:latin typeface="Lato Bold"/>
                <a:ea typeface="Lato Bold"/>
                <a:cs typeface="Lato Bold"/>
                <a:sym typeface="Lato Bold"/>
              </a:rPr>
              <a:t>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87230" y="485244"/>
            <a:ext cx="14500136" cy="8991831"/>
            <a:chOff x="0" y="0"/>
            <a:chExt cx="3818966" cy="2368219"/>
          </a:xfrm>
        </p:grpSpPr>
        <p:sp>
          <p:nvSpPr>
            <p:cNvPr id="3" name="Freeform 3"/>
            <p:cNvSpPr/>
            <p:nvPr/>
          </p:nvSpPr>
          <p:spPr>
            <a:xfrm>
              <a:off x="0" y="0"/>
              <a:ext cx="3818966" cy="2368219"/>
            </a:xfrm>
            <a:custGeom>
              <a:avLst/>
              <a:gdLst/>
              <a:ahLst/>
              <a:cxnLst/>
              <a:rect l="l" t="t" r="r" b="b"/>
              <a:pathLst>
                <a:path w="3818966" h="2368219">
                  <a:moveTo>
                    <a:pt x="10678" y="0"/>
                  </a:moveTo>
                  <a:lnTo>
                    <a:pt x="3808287" y="0"/>
                  </a:lnTo>
                  <a:cubicBezTo>
                    <a:pt x="3814185" y="0"/>
                    <a:pt x="3818966" y="4781"/>
                    <a:pt x="3818966" y="10678"/>
                  </a:cubicBezTo>
                  <a:lnTo>
                    <a:pt x="3818966" y="2357540"/>
                  </a:lnTo>
                  <a:cubicBezTo>
                    <a:pt x="3818966" y="2363438"/>
                    <a:pt x="3814185" y="2368219"/>
                    <a:pt x="3808287" y="2368219"/>
                  </a:cubicBezTo>
                  <a:lnTo>
                    <a:pt x="10678" y="2368219"/>
                  </a:lnTo>
                  <a:cubicBezTo>
                    <a:pt x="4781" y="2368219"/>
                    <a:pt x="0" y="2363438"/>
                    <a:pt x="0" y="2357540"/>
                  </a:cubicBezTo>
                  <a:lnTo>
                    <a:pt x="0" y="10678"/>
                  </a:lnTo>
                  <a:cubicBezTo>
                    <a:pt x="0" y="4781"/>
                    <a:pt x="4781" y="0"/>
                    <a:pt x="10678" y="0"/>
                  </a:cubicBezTo>
                  <a:close/>
                </a:path>
              </a:pathLst>
            </a:custGeom>
            <a:solidFill>
              <a:srgbClr val="000000"/>
            </a:solidFill>
            <a:ln w="38100" cap="sq">
              <a:solidFill>
                <a:srgbClr val="E5E1DA"/>
              </a:solidFill>
              <a:prstDash val="solid"/>
              <a:miter/>
            </a:ln>
          </p:spPr>
          <p:txBody>
            <a:bodyPr/>
            <a:lstStyle/>
            <a:p>
              <a:endParaRPr lang="en-US"/>
            </a:p>
          </p:txBody>
        </p:sp>
        <p:sp>
          <p:nvSpPr>
            <p:cNvPr id="4" name="TextBox 4"/>
            <p:cNvSpPr txBox="1"/>
            <p:nvPr/>
          </p:nvSpPr>
          <p:spPr>
            <a:xfrm>
              <a:off x="0" y="-38100"/>
              <a:ext cx="3818966" cy="240631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084564" y="6678738"/>
            <a:ext cx="6203436" cy="3608262"/>
          </a:xfrm>
          <a:custGeom>
            <a:avLst/>
            <a:gdLst/>
            <a:ahLst/>
            <a:cxnLst/>
            <a:rect l="l" t="t" r="r" b="b"/>
            <a:pathLst>
              <a:path w="6203436" h="3608262">
                <a:moveTo>
                  <a:pt x="0" y="0"/>
                </a:moveTo>
                <a:lnTo>
                  <a:pt x="6203436" y="0"/>
                </a:lnTo>
                <a:lnTo>
                  <a:pt x="6203436" y="3608262"/>
                </a:lnTo>
                <a:lnTo>
                  <a:pt x="0" y="3608262"/>
                </a:lnTo>
                <a:lnTo>
                  <a:pt x="0" y="0"/>
                </a:lnTo>
                <a:close/>
              </a:path>
            </a:pathLst>
          </a:custGeom>
          <a:blipFill>
            <a:blip r:embed="rId2"/>
            <a:stretch>
              <a:fillRect l="-1702" r="-1702"/>
            </a:stretch>
          </a:blipFill>
        </p:spPr>
        <p:txBody>
          <a:bodyPr/>
          <a:lstStyle/>
          <a:p>
            <a:endParaRPr lang="en-US"/>
          </a:p>
        </p:txBody>
      </p:sp>
      <p:sp>
        <p:nvSpPr>
          <p:cNvPr id="6" name="Freeform 6"/>
          <p:cNvSpPr/>
          <p:nvPr/>
        </p:nvSpPr>
        <p:spPr>
          <a:xfrm rot="13440000" flipH="1">
            <a:off x="-4643566" y="5498753"/>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txBody>
          <a:bodyPr/>
          <a:lstStyle/>
          <a:p>
            <a:endParaRPr lang="en-US"/>
          </a:p>
        </p:txBody>
      </p:sp>
      <p:sp>
        <p:nvSpPr>
          <p:cNvPr id="7" name="Freeform 7"/>
          <p:cNvSpPr/>
          <p:nvPr/>
        </p:nvSpPr>
        <p:spPr>
          <a:xfrm>
            <a:off x="10212631" y="378290"/>
            <a:ext cx="650410" cy="650410"/>
          </a:xfrm>
          <a:custGeom>
            <a:avLst/>
            <a:gdLst/>
            <a:ahLst/>
            <a:cxnLst/>
            <a:rect l="l" t="t" r="r" b="b"/>
            <a:pathLst>
              <a:path w="650410" h="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1740817" y="1494739"/>
            <a:ext cx="8043479" cy="987425"/>
          </a:xfrm>
          <a:prstGeom prst="rect">
            <a:avLst/>
          </a:prstGeom>
        </p:spPr>
        <p:txBody>
          <a:bodyPr lIns="0" tIns="0" rIns="0" bIns="0" rtlCol="0" anchor="t">
            <a:spAutoFit/>
          </a:bodyPr>
          <a:lstStyle/>
          <a:p>
            <a:pPr algn="l">
              <a:lnSpc>
                <a:spcPts val="7150"/>
              </a:lnSpc>
            </a:pPr>
            <a:r>
              <a:rPr lang="en-US" sz="6500" b="1">
                <a:solidFill>
                  <a:srgbClr val="FBF9F1"/>
                </a:solidFill>
                <a:latin typeface="Poppins Bold"/>
                <a:ea typeface="Poppins Bold"/>
                <a:cs typeface="Poppins Bold"/>
                <a:sym typeface="Poppins Bold"/>
              </a:rPr>
              <a:t>INTRODUCTION</a:t>
            </a:r>
          </a:p>
        </p:txBody>
      </p:sp>
      <p:sp>
        <p:nvSpPr>
          <p:cNvPr id="9" name="TextBox 9"/>
          <p:cNvSpPr txBox="1"/>
          <p:nvPr/>
        </p:nvSpPr>
        <p:spPr>
          <a:xfrm>
            <a:off x="2809042" y="3028223"/>
            <a:ext cx="10239924" cy="3896995"/>
          </a:xfrm>
          <a:prstGeom prst="rect">
            <a:avLst/>
          </a:prstGeom>
        </p:spPr>
        <p:txBody>
          <a:bodyPr lIns="0" tIns="0" rIns="0" bIns="0" rtlCol="0" anchor="t">
            <a:spAutoFit/>
          </a:bodyPr>
          <a:lstStyle/>
          <a:p>
            <a:pPr algn="l">
              <a:lnSpc>
                <a:spcPts val="3080"/>
              </a:lnSpc>
            </a:pPr>
            <a:r>
              <a:rPr lang="en-US" sz="2200">
                <a:solidFill>
                  <a:srgbClr val="E5E1DA"/>
                </a:solidFill>
                <a:latin typeface="Lato"/>
                <a:ea typeface="Lato"/>
                <a:cs typeface="Lato"/>
                <a:sym typeface="Lato"/>
              </a:rPr>
              <a:t>Our project revolves around the Unitiree-Go1, which is an autonomous robot that has 5 cameras, seamless movement, and a built-in 16 core top CPU and GPU.</a:t>
            </a:r>
          </a:p>
          <a:p>
            <a:pPr algn="l">
              <a:lnSpc>
                <a:spcPts val="3080"/>
              </a:lnSpc>
            </a:pPr>
            <a:r>
              <a:rPr lang="en-US" sz="2200">
                <a:solidFill>
                  <a:srgbClr val="E5E1DA"/>
                </a:solidFill>
                <a:latin typeface="Lato"/>
                <a:ea typeface="Lato"/>
                <a:cs typeface="Lato"/>
                <a:sym typeface="Lato"/>
              </a:rPr>
              <a:t>We will be integrating object detection technology using the Uni-Go1 by applying YOLOv8 libraries from Ultralytics.</a:t>
            </a:r>
          </a:p>
          <a:p>
            <a:pPr algn="l">
              <a:lnSpc>
                <a:spcPts val="3080"/>
              </a:lnSpc>
            </a:pPr>
            <a:r>
              <a:rPr lang="en-US" sz="2200">
                <a:solidFill>
                  <a:srgbClr val="E5E1DA"/>
                </a:solidFill>
                <a:latin typeface="Lato"/>
                <a:ea typeface="Lato"/>
                <a:cs typeface="Lato"/>
                <a:sym typeface="Lato"/>
              </a:rPr>
              <a:t>These computations will be run on a Nvidia Jetson Orin Nano Developer Kit that will be plugged into the robot.</a:t>
            </a:r>
          </a:p>
          <a:p>
            <a:pPr algn="l">
              <a:lnSpc>
                <a:spcPts val="3080"/>
              </a:lnSpc>
            </a:pPr>
            <a:r>
              <a:rPr lang="en-US" sz="2200">
                <a:solidFill>
                  <a:srgbClr val="E5E1DA"/>
                </a:solidFill>
                <a:latin typeface="Lato"/>
                <a:ea typeface="Lato"/>
                <a:cs typeface="Lato"/>
                <a:sym typeface="Lato"/>
              </a:rPr>
              <a:t>Utilizing our code, the robot will be able to navigate different environments and perform a wide range of field-tasks based on the detected object's confidence level calculated in the model.</a:t>
            </a:r>
          </a:p>
          <a:p>
            <a:pPr algn="l">
              <a:lnSpc>
                <a:spcPts val="3080"/>
              </a:lnSpc>
              <a:spcBef>
                <a:spcPct val="0"/>
              </a:spcBef>
            </a:pPr>
            <a:endParaRPr lang="en-US" sz="2200">
              <a:solidFill>
                <a:srgbClr val="E5E1DA"/>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8355821" flipH="1" flipV="1">
            <a:off x="-3819711" y="-676055"/>
            <a:ext cx="9940582" cy="10671659"/>
          </a:xfrm>
          <a:custGeom>
            <a:avLst/>
            <a:gdLst/>
            <a:ahLst/>
            <a:cxnLst/>
            <a:rect l="l" t="t" r="r" b="b"/>
            <a:pathLst>
              <a:path w="9940582" h="10671659">
                <a:moveTo>
                  <a:pt x="9940582" y="10671659"/>
                </a:moveTo>
                <a:lnTo>
                  <a:pt x="0" y="10671659"/>
                </a:lnTo>
                <a:lnTo>
                  <a:pt x="0" y="0"/>
                </a:lnTo>
                <a:lnTo>
                  <a:pt x="9940582" y="0"/>
                </a:lnTo>
                <a:lnTo>
                  <a:pt x="9940582" y="10671659"/>
                </a:lnTo>
                <a:close/>
              </a:path>
            </a:pathLst>
          </a:custGeom>
          <a:blipFill>
            <a:blip r:embed="rId2"/>
            <a:stretch>
              <a:fillRect l="-54" r="-54"/>
            </a:stretch>
          </a:blipFill>
        </p:spPr>
        <p:txBody>
          <a:bodyPr/>
          <a:lstStyle/>
          <a:p>
            <a:endParaRPr lang="en-US"/>
          </a:p>
        </p:txBody>
      </p:sp>
      <p:grpSp>
        <p:nvGrpSpPr>
          <p:cNvPr id="3" name="Group 3"/>
          <p:cNvGrpSpPr/>
          <p:nvPr/>
        </p:nvGrpSpPr>
        <p:grpSpPr>
          <a:xfrm>
            <a:off x="3559016" y="2127662"/>
            <a:ext cx="4366933" cy="932720"/>
            <a:chOff x="0" y="0"/>
            <a:chExt cx="1150139" cy="245655"/>
          </a:xfrm>
        </p:grpSpPr>
        <p:sp>
          <p:nvSpPr>
            <p:cNvPr id="4" name="Freeform 4"/>
            <p:cNvSpPr/>
            <p:nvPr/>
          </p:nvSpPr>
          <p:spPr>
            <a:xfrm>
              <a:off x="0" y="0"/>
              <a:ext cx="1150139" cy="245655"/>
            </a:xfrm>
            <a:custGeom>
              <a:avLst/>
              <a:gdLst/>
              <a:ahLst/>
              <a:cxnLst/>
              <a:rect l="l" t="t" r="r" b="b"/>
              <a:pathLst>
                <a:path w="1150139" h="245655">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txBody>
            <a:bodyPr/>
            <a:lstStyle/>
            <a:p>
              <a:endParaRPr lang="en-US"/>
            </a:p>
          </p:txBody>
        </p:sp>
        <p:sp>
          <p:nvSpPr>
            <p:cNvPr id="5" name="TextBox 5"/>
            <p:cNvSpPr txBox="1"/>
            <p:nvPr/>
          </p:nvSpPr>
          <p:spPr>
            <a:xfrm>
              <a:off x="0" y="-47625"/>
              <a:ext cx="1150139" cy="293280"/>
            </a:xfrm>
            <a:prstGeom prst="rect">
              <a:avLst/>
            </a:prstGeom>
          </p:spPr>
          <p:txBody>
            <a:bodyPr lIns="50800" tIns="50800" rIns="50800" bIns="50800" rtlCol="0" anchor="ctr"/>
            <a:lstStyle/>
            <a:p>
              <a:pPr algn="ctr">
                <a:lnSpc>
                  <a:spcPts val="3499"/>
                </a:lnSpc>
              </a:pPr>
              <a:r>
                <a:rPr lang="en-US" sz="2499" b="1">
                  <a:solidFill>
                    <a:srgbClr val="000000"/>
                  </a:solidFill>
                  <a:latin typeface="Lato Bold"/>
                  <a:ea typeface="Lato Bold"/>
                  <a:cs typeface="Lato Bold"/>
                  <a:sym typeface="Lato Bold"/>
                </a:rPr>
                <a:t>Basic Plan</a:t>
              </a:r>
            </a:p>
          </p:txBody>
        </p:sp>
      </p:grpSp>
      <p:grpSp>
        <p:nvGrpSpPr>
          <p:cNvPr id="6" name="Group 6"/>
          <p:cNvGrpSpPr/>
          <p:nvPr/>
        </p:nvGrpSpPr>
        <p:grpSpPr>
          <a:xfrm>
            <a:off x="8164752" y="2127662"/>
            <a:ext cx="4366933" cy="932720"/>
            <a:chOff x="0" y="0"/>
            <a:chExt cx="1150139" cy="245655"/>
          </a:xfrm>
        </p:grpSpPr>
        <p:sp>
          <p:nvSpPr>
            <p:cNvPr id="7" name="Freeform 7"/>
            <p:cNvSpPr/>
            <p:nvPr/>
          </p:nvSpPr>
          <p:spPr>
            <a:xfrm>
              <a:off x="0" y="0"/>
              <a:ext cx="1150139" cy="245655"/>
            </a:xfrm>
            <a:custGeom>
              <a:avLst/>
              <a:gdLst/>
              <a:ahLst/>
              <a:cxnLst/>
              <a:rect l="l" t="t" r="r" b="b"/>
              <a:pathLst>
                <a:path w="1150139" h="245655">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txBody>
            <a:bodyPr/>
            <a:lstStyle/>
            <a:p>
              <a:endParaRPr lang="en-US"/>
            </a:p>
          </p:txBody>
        </p:sp>
        <p:sp>
          <p:nvSpPr>
            <p:cNvPr id="8" name="TextBox 8"/>
            <p:cNvSpPr txBox="1"/>
            <p:nvPr/>
          </p:nvSpPr>
          <p:spPr>
            <a:xfrm>
              <a:off x="0" y="-47625"/>
              <a:ext cx="1150139" cy="293280"/>
            </a:xfrm>
            <a:prstGeom prst="rect">
              <a:avLst/>
            </a:prstGeom>
          </p:spPr>
          <p:txBody>
            <a:bodyPr lIns="50800" tIns="50800" rIns="50800" bIns="50800" rtlCol="0" anchor="ctr"/>
            <a:lstStyle/>
            <a:p>
              <a:pPr algn="ctr">
                <a:lnSpc>
                  <a:spcPts val="3499"/>
                </a:lnSpc>
              </a:pPr>
              <a:r>
                <a:rPr lang="en-US" sz="2499" b="1">
                  <a:solidFill>
                    <a:srgbClr val="000000"/>
                  </a:solidFill>
                  <a:latin typeface="Lato Bold"/>
                  <a:ea typeface="Lato Bold"/>
                  <a:cs typeface="Lato Bold"/>
                  <a:sym typeface="Lato Bold"/>
                </a:rPr>
                <a:t>Standard Plan</a:t>
              </a:r>
            </a:p>
          </p:txBody>
        </p:sp>
      </p:grpSp>
      <p:grpSp>
        <p:nvGrpSpPr>
          <p:cNvPr id="9" name="Group 9"/>
          <p:cNvGrpSpPr/>
          <p:nvPr/>
        </p:nvGrpSpPr>
        <p:grpSpPr>
          <a:xfrm>
            <a:off x="12770487" y="2127662"/>
            <a:ext cx="4366933" cy="932720"/>
            <a:chOff x="0" y="0"/>
            <a:chExt cx="1150139" cy="245655"/>
          </a:xfrm>
        </p:grpSpPr>
        <p:sp>
          <p:nvSpPr>
            <p:cNvPr id="10" name="Freeform 10"/>
            <p:cNvSpPr/>
            <p:nvPr/>
          </p:nvSpPr>
          <p:spPr>
            <a:xfrm>
              <a:off x="0" y="0"/>
              <a:ext cx="1150139" cy="245655"/>
            </a:xfrm>
            <a:custGeom>
              <a:avLst/>
              <a:gdLst/>
              <a:ahLst/>
              <a:cxnLst/>
              <a:rect l="l" t="t" r="r" b="b"/>
              <a:pathLst>
                <a:path w="1150139" h="245655">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txBody>
            <a:bodyPr/>
            <a:lstStyle/>
            <a:p>
              <a:endParaRPr lang="en-US"/>
            </a:p>
          </p:txBody>
        </p:sp>
        <p:sp>
          <p:nvSpPr>
            <p:cNvPr id="11" name="TextBox 11"/>
            <p:cNvSpPr txBox="1"/>
            <p:nvPr/>
          </p:nvSpPr>
          <p:spPr>
            <a:xfrm>
              <a:off x="0" y="-47625"/>
              <a:ext cx="1150139" cy="293280"/>
            </a:xfrm>
            <a:prstGeom prst="rect">
              <a:avLst/>
            </a:prstGeom>
          </p:spPr>
          <p:txBody>
            <a:bodyPr lIns="50800" tIns="50800" rIns="50800" bIns="50800" rtlCol="0" anchor="ctr"/>
            <a:lstStyle/>
            <a:p>
              <a:pPr algn="ctr">
                <a:lnSpc>
                  <a:spcPts val="3499"/>
                </a:lnSpc>
              </a:pPr>
              <a:r>
                <a:rPr lang="en-US" sz="2499" b="1">
                  <a:solidFill>
                    <a:srgbClr val="000000"/>
                  </a:solidFill>
                  <a:latin typeface="Lato Bold"/>
                  <a:ea typeface="Lato Bold"/>
                  <a:cs typeface="Lato Bold"/>
                  <a:sym typeface="Lato Bold"/>
                </a:rPr>
                <a:t>Premium Plan</a:t>
              </a:r>
            </a:p>
          </p:txBody>
        </p:sp>
      </p:grpSp>
      <p:graphicFrame>
        <p:nvGraphicFramePr>
          <p:cNvPr id="12" name="Table 12"/>
          <p:cNvGraphicFramePr>
            <a:graphicFrameLocks noGrp="1"/>
          </p:cNvGraphicFramePr>
          <p:nvPr>
            <p:extLst>
              <p:ext uri="{D42A27DB-BD31-4B8C-83A1-F6EECF244321}">
                <p14:modId xmlns:p14="http://schemas.microsoft.com/office/powerpoint/2010/main" val="2839452464"/>
              </p:ext>
            </p:extLst>
          </p:nvPr>
        </p:nvGraphicFramePr>
        <p:xfrm>
          <a:off x="1150580" y="3357486"/>
          <a:ext cx="15986840" cy="6261425"/>
        </p:xfrm>
        <a:graphic>
          <a:graphicData uri="http://schemas.openxmlformats.org/drawingml/2006/table">
            <a:tbl>
              <a:tblPr/>
              <a:tblGrid>
                <a:gridCol w="2259883">
                  <a:extLst>
                    <a:ext uri="{9D8B030D-6E8A-4147-A177-3AD203B41FA5}">
                      <a16:colId xmlns:a16="http://schemas.microsoft.com/office/drawing/2014/main" val="20000"/>
                    </a:ext>
                  </a:extLst>
                </a:gridCol>
                <a:gridCol w="4599239">
                  <a:extLst>
                    <a:ext uri="{9D8B030D-6E8A-4147-A177-3AD203B41FA5}">
                      <a16:colId xmlns:a16="http://schemas.microsoft.com/office/drawing/2014/main" val="20001"/>
                    </a:ext>
                  </a:extLst>
                </a:gridCol>
                <a:gridCol w="4596075">
                  <a:extLst>
                    <a:ext uri="{9D8B030D-6E8A-4147-A177-3AD203B41FA5}">
                      <a16:colId xmlns:a16="http://schemas.microsoft.com/office/drawing/2014/main" val="20002"/>
                    </a:ext>
                  </a:extLst>
                </a:gridCol>
                <a:gridCol w="4531643">
                  <a:extLst>
                    <a:ext uri="{9D8B030D-6E8A-4147-A177-3AD203B41FA5}">
                      <a16:colId xmlns:a16="http://schemas.microsoft.com/office/drawing/2014/main" val="20003"/>
                    </a:ext>
                  </a:extLst>
                </a:gridCol>
              </a:tblGrid>
              <a:tr h="1183839">
                <a:tc>
                  <a:txBody>
                    <a:bodyPr/>
                    <a:lstStyle/>
                    <a:p>
                      <a:pPr algn="ctr">
                        <a:lnSpc>
                          <a:spcPts val="3499"/>
                        </a:lnSpc>
                        <a:defRPr/>
                      </a:pPr>
                      <a:r>
                        <a:rPr lang="en-US" sz="2450" b="1" dirty="0">
                          <a:solidFill>
                            <a:srgbClr val="000000"/>
                          </a:solidFill>
                          <a:latin typeface="Lato Bold"/>
                          <a:ea typeface="Lato Bold"/>
                          <a:cs typeface="Lato Bold"/>
                        </a:rPr>
                        <a:t>Technical</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E5E1DA"/>
                    </a:solidFill>
                  </a:tcPr>
                </a:tc>
                <a:tc>
                  <a:txBody>
                    <a:bodyPr/>
                    <a:lstStyle/>
                    <a:p>
                      <a:pPr algn="ctr">
                        <a:lnSpc>
                          <a:spcPts val="2940"/>
                        </a:lnSpc>
                      </a:pPr>
                      <a:r>
                        <a:rPr lang="en-US" sz="2100" b="1" dirty="0">
                          <a:solidFill>
                            <a:srgbClr val="E5E1DA"/>
                          </a:solidFill>
                          <a:latin typeface="Lato Bold"/>
                          <a:ea typeface="Lato Bold"/>
                          <a:cs typeface="Lato Bold"/>
                        </a:rPr>
                        <a:t>Integrate Yolo</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algn="ctr">
                        <a:lnSpc>
                          <a:spcPts val="2940"/>
                        </a:lnSpc>
                        <a:defRPr/>
                      </a:pPr>
                      <a:r>
                        <a:rPr lang="en-US" sz="2100" b="1" dirty="0">
                          <a:solidFill>
                            <a:srgbClr val="E5E1DA"/>
                          </a:solidFill>
                          <a:latin typeface="Lato Bold"/>
                          <a:ea typeface="Lato Bold"/>
                          <a:cs typeface="Lato Bold"/>
                          <a:sym typeface="Lato Bold"/>
                        </a:rPr>
                        <a:t>175$/ month</a:t>
                      </a:r>
                      <a:endParaRPr lang="en-US" sz="110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algn="ctr">
                        <a:lnSpc>
                          <a:spcPts val="2940"/>
                        </a:lnSpc>
                        <a:defRPr/>
                      </a:pPr>
                      <a:r>
                        <a:rPr lang="en-US" sz="2100" b="1" dirty="0">
                          <a:solidFill>
                            <a:srgbClr val="E5E1DA"/>
                          </a:solidFill>
                          <a:latin typeface="Lato Bold"/>
                          <a:ea typeface="Lato Bold"/>
                          <a:cs typeface="Lato Bold"/>
                          <a:sym typeface="Lato Bold"/>
                        </a:rPr>
                        <a:t>220$/ month</a:t>
                      </a:r>
                      <a:endParaRPr lang="en-US" sz="110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975004">
                <a:tc>
                  <a:txBody>
                    <a:bodyPr/>
                    <a:lstStyle/>
                    <a:p>
                      <a:pPr algn="ctr">
                        <a:lnSpc>
                          <a:spcPts val="3499"/>
                        </a:lnSpc>
                        <a:defRPr/>
                      </a:pPr>
                      <a:r>
                        <a:rPr lang="en-US" sz="2450" b="1" dirty="0">
                          <a:solidFill>
                            <a:srgbClr val="000000"/>
                          </a:solidFill>
                          <a:latin typeface="Lato Bold"/>
                          <a:ea typeface="Lato Bold"/>
                          <a:cs typeface="Lato Bold"/>
                        </a:rPr>
                        <a:t>Operational</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E5E1DA"/>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Limited features </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Basic support </a:t>
                      </a:r>
                    </a:p>
                    <a:p>
                      <a:pPr marL="453390" lvl="1" indent="-226695" algn="l">
                        <a:lnSpc>
                          <a:spcPts val="2940"/>
                        </a:lnSpc>
                        <a:buFont typeface="Arial"/>
                        <a:buChar char="•"/>
                      </a:pPr>
                      <a:r>
                        <a:rPr lang="en-US" sz="2100" dirty="0">
                          <a:solidFill>
                            <a:srgbClr val="E5E1DA"/>
                          </a:solidFill>
                          <a:latin typeface="Lato"/>
                          <a:ea typeface="Lato"/>
                          <a:cs typeface="Lato"/>
                          <a:sym typeface="Lato"/>
                        </a:rPr>
                        <a:t>No customization</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More features</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Standard support </a:t>
                      </a:r>
                    </a:p>
                    <a:p>
                      <a:pPr marL="453390" lvl="1" indent="-226695" algn="l">
                        <a:lnSpc>
                          <a:spcPts val="2940"/>
                        </a:lnSpc>
                        <a:buFont typeface="Arial"/>
                        <a:buChar char="•"/>
                      </a:pPr>
                      <a:r>
                        <a:rPr lang="en-US" sz="2100" dirty="0">
                          <a:solidFill>
                            <a:srgbClr val="E5E1DA"/>
                          </a:solidFill>
                          <a:latin typeface="Lato"/>
                          <a:ea typeface="Lato"/>
                          <a:cs typeface="Lato"/>
                          <a:sym typeface="Lato"/>
                        </a:rPr>
                        <a:t>Some customization</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Full features</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Priority support </a:t>
                      </a:r>
                    </a:p>
                    <a:p>
                      <a:pPr marL="453390" lvl="1" indent="-226695" algn="l">
                        <a:lnSpc>
                          <a:spcPts val="2940"/>
                        </a:lnSpc>
                        <a:buFont typeface="Arial"/>
                        <a:buChar char="•"/>
                      </a:pPr>
                      <a:r>
                        <a:rPr lang="en-US" sz="2100" dirty="0">
                          <a:solidFill>
                            <a:srgbClr val="E5E1DA"/>
                          </a:solidFill>
                          <a:latin typeface="Lato"/>
                          <a:ea typeface="Lato"/>
                          <a:cs typeface="Lato"/>
                          <a:sym typeface="Lato"/>
                        </a:rPr>
                        <a:t>Full customization</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1551291">
                <a:tc>
                  <a:txBody>
                    <a:bodyPr/>
                    <a:lstStyle/>
                    <a:p>
                      <a:pPr algn="ctr">
                        <a:lnSpc>
                          <a:spcPts val="3499"/>
                        </a:lnSpc>
                        <a:defRPr/>
                      </a:pPr>
                      <a:r>
                        <a:rPr lang="en-US" sz="2450" b="1" dirty="0">
                          <a:solidFill>
                            <a:srgbClr val="000000"/>
                          </a:solidFill>
                          <a:latin typeface="Lato Bold"/>
                          <a:ea typeface="Lato Bold"/>
                          <a:cs typeface="Lato Bold"/>
                        </a:rPr>
                        <a:t>Evaluation</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E5E1DA"/>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Limited usage</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Limited storage</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Increased usage</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More storage</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marL="453390" lvl="1" indent="-226695" algn="l">
                        <a:lnSpc>
                          <a:spcPts val="2940"/>
                        </a:lnSpc>
                        <a:buFont typeface="Arial"/>
                        <a:buChar char="•"/>
                        <a:defRPr/>
                      </a:pPr>
                      <a:r>
                        <a:rPr lang="en-US" sz="2100" dirty="0">
                          <a:solidFill>
                            <a:srgbClr val="E5E1DA"/>
                          </a:solidFill>
                          <a:latin typeface="Lato"/>
                          <a:ea typeface="Lato"/>
                          <a:cs typeface="Lato"/>
                          <a:sym typeface="Lato"/>
                        </a:rPr>
                        <a:t>Unlimited usage</a:t>
                      </a:r>
                      <a:endParaRPr lang="en-US" sz="1100" dirty="0"/>
                    </a:p>
                    <a:p>
                      <a:pPr marL="453390" lvl="1" indent="-226695" algn="l">
                        <a:lnSpc>
                          <a:spcPts val="2940"/>
                        </a:lnSpc>
                        <a:buFont typeface="Arial"/>
                        <a:buChar char="•"/>
                      </a:pPr>
                      <a:r>
                        <a:rPr lang="en-US" sz="2100" dirty="0">
                          <a:solidFill>
                            <a:srgbClr val="E5E1DA"/>
                          </a:solidFill>
                          <a:latin typeface="Lato"/>
                          <a:ea typeface="Lato"/>
                          <a:cs typeface="Lato"/>
                          <a:sym typeface="Lato"/>
                        </a:rPr>
                        <a:t>Unlimited storage</a:t>
                      </a:r>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extLst>
                  <a:ext uri="{0D108BD9-81ED-4DB2-BD59-A6C34878D82A}">
                    <a16:rowId xmlns:a16="http://schemas.microsoft.com/office/drawing/2014/main" val="10002"/>
                  </a:ext>
                </a:extLst>
              </a:tr>
              <a:tr h="1551291">
                <a:tc>
                  <a:txBody>
                    <a:bodyPr/>
                    <a:lstStyle/>
                    <a:p>
                      <a:pPr algn="ctr">
                        <a:lnSpc>
                          <a:spcPts val="3499"/>
                        </a:lnSpc>
                        <a:defRPr/>
                      </a:pPr>
                      <a:r>
                        <a:rPr lang="en-US" sz="2450" b="1" dirty="0">
                          <a:solidFill>
                            <a:srgbClr val="000000"/>
                          </a:solidFill>
                          <a:latin typeface="Lato Bold"/>
                          <a:ea typeface="Lato Bold"/>
                          <a:cs typeface="Lato Bold"/>
                          <a:sym typeface="Lato Bold"/>
                        </a:rPr>
                        <a:t>Additional Services</a:t>
                      </a:r>
                      <a:endParaRPr lang="en-US" sz="245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E5E1DA"/>
                    </a:solidFill>
                  </a:tcPr>
                </a:tc>
                <a:tc>
                  <a:txBody>
                    <a:bodyPr/>
                    <a:lstStyle/>
                    <a:p>
                      <a:pPr algn="ctr">
                        <a:lnSpc>
                          <a:spcPts val="2940"/>
                        </a:lnSpc>
                        <a:defRPr/>
                      </a:pPr>
                      <a:r>
                        <a:rPr lang="en-US" sz="2100" dirty="0">
                          <a:solidFill>
                            <a:srgbClr val="E5E1DA"/>
                          </a:solidFill>
                          <a:latin typeface="Lato"/>
                          <a:ea typeface="Lato"/>
                          <a:cs typeface="Lato"/>
                          <a:sym typeface="Lato"/>
                        </a:rPr>
                        <a:t>No additional services included</a:t>
                      </a:r>
                      <a:endParaRPr lang="en-US" sz="110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algn="ctr">
                        <a:lnSpc>
                          <a:spcPts val="2940"/>
                        </a:lnSpc>
                        <a:defRPr/>
                      </a:pPr>
                      <a:r>
                        <a:rPr lang="en-US" sz="2100" dirty="0">
                          <a:solidFill>
                            <a:srgbClr val="E5E1DA"/>
                          </a:solidFill>
                          <a:latin typeface="Lato"/>
                          <a:ea typeface="Lato"/>
                          <a:cs typeface="Lato"/>
                          <a:sym typeface="Lato"/>
                        </a:rPr>
                        <a:t>Optional add-ons available for purchase</a:t>
                      </a:r>
                      <a:endParaRPr lang="en-US" sz="110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tc>
                  <a:txBody>
                    <a:bodyPr/>
                    <a:lstStyle/>
                    <a:p>
                      <a:pPr algn="ctr">
                        <a:lnSpc>
                          <a:spcPts val="2940"/>
                        </a:lnSpc>
                        <a:defRPr/>
                      </a:pPr>
                      <a:r>
                        <a:rPr lang="en-US" sz="2100" dirty="0">
                          <a:solidFill>
                            <a:srgbClr val="E5E1DA"/>
                          </a:solidFill>
                          <a:latin typeface="Lato"/>
                          <a:ea typeface="Lato"/>
                          <a:cs typeface="Lato"/>
                          <a:sym typeface="Lato"/>
                        </a:rPr>
                        <a:t>Premium support and consulting included</a:t>
                      </a:r>
                      <a:endParaRPr lang="en-US" sz="1100" dirty="0"/>
                    </a:p>
                  </a:txBody>
                  <a:tcPr marL="190500" marR="190500" marT="190500" marB="190500" anchor="ctr">
                    <a:lnL w="38100" cap="flat" cmpd="sng" algn="ctr">
                      <a:solidFill>
                        <a:srgbClr val="E5E1DA"/>
                      </a:solidFill>
                      <a:prstDash val="solid"/>
                      <a:round/>
                      <a:headEnd type="none" w="med" len="med"/>
                      <a:tailEnd type="none" w="med" len="med"/>
                    </a:lnL>
                    <a:lnR w="38100" cap="flat" cmpd="sng" algn="ctr">
                      <a:solidFill>
                        <a:srgbClr val="E5E1DA"/>
                      </a:solidFill>
                      <a:prstDash val="solid"/>
                      <a:round/>
                      <a:headEnd type="none" w="med" len="med"/>
                      <a:tailEnd type="none" w="med" len="med"/>
                    </a:lnR>
                    <a:lnT w="38100" cap="flat" cmpd="sng" algn="ctr">
                      <a:solidFill>
                        <a:srgbClr val="E5E1DA"/>
                      </a:solidFill>
                      <a:prstDash val="solid"/>
                      <a:round/>
                      <a:headEnd type="none" w="med" len="med"/>
                      <a:tailEnd type="none" w="med" len="med"/>
                    </a:lnT>
                    <a:lnB w="38100" cap="flat" cmpd="sng" algn="ctr">
                      <a:solidFill>
                        <a:srgbClr val="E5E1DA"/>
                      </a:solidFill>
                      <a:prstDash val="solid"/>
                      <a:round/>
                      <a:headEnd type="none" w="med" len="med"/>
                      <a:tailEnd type="none" w="med" len="med"/>
                    </a:lnB>
                    <a:solidFill>
                      <a:srgbClr val="000000"/>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5400175" y="649287"/>
            <a:ext cx="7487649" cy="758825"/>
          </a:xfrm>
          <a:prstGeom prst="rect">
            <a:avLst/>
          </a:prstGeom>
        </p:spPr>
        <p:txBody>
          <a:bodyPr lIns="0" tIns="0" rIns="0" bIns="0" rtlCol="0" anchor="t">
            <a:spAutoFit/>
          </a:bodyPr>
          <a:lstStyle/>
          <a:p>
            <a:pPr algn="ctr">
              <a:lnSpc>
                <a:spcPts val="5500"/>
              </a:lnSpc>
            </a:pPr>
            <a:r>
              <a:rPr lang="en-US" sz="5000" b="1">
                <a:solidFill>
                  <a:srgbClr val="FBF9F1"/>
                </a:solidFill>
                <a:latin typeface="Poppins Bold"/>
                <a:ea typeface="Poppins Bold"/>
                <a:cs typeface="Poppins Bold"/>
                <a:sym typeface="Poppins Bold"/>
              </a:rPr>
              <a:t>PROJECT GOALS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8223014">
            <a:off x="10390308" y="-6185338"/>
            <a:ext cx="10128448" cy="10895890"/>
          </a:xfrm>
          <a:custGeom>
            <a:avLst/>
            <a:gdLst/>
            <a:ahLst/>
            <a:cxnLst/>
            <a:rect l="l" t="t" r="r" b="b"/>
            <a:pathLst>
              <a:path w="10128448" h="10895890">
                <a:moveTo>
                  <a:pt x="0" y="0"/>
                </a:moveTo>
                <a:lnTo>
                  <a:pt x="10128448" y="0"/>
                </a:lnTo>
                <a:lnTo>
                  <a:pt x="10128448" y="10895890"/>
                </a:lnTo>
                <a:lnTo>
                  <a:pt x="0" y="10895890"/>
                </a:lnTo>
                <a:lnTo>
                  <a:pt x="0" y="0"/>
                </a:lnTo>
                <a:close/>
              </a:path>
            </a:pathLst>
          </a:custGeom>
          <a:blipFill>
            <a:blip r:embed="rId2"/>
            <a:stretch>
              <a:fillRect l="-157" r="-157"/>
            </a:stretch>
          </a:blipFill>
        </p:spPr>
        <p:txBody>
          <a:bodyPr/>
          <a:lstStyle/>
          <a:p>
            <a:endParaRPr lang="en-US"/>
          </a:p>
        </p:txBody>
      </p:sp>
      <p:grpSp>
        <p:nvGrpSpPr>
          <p:cNvPr id="3" name="Group 3"/>
          <p:cNvGrpSpPr/>
          <p:nvPr/>
        </p:nvGrpSpPr>
        <p:grpSpPr>
          <a:xfrm>
            <a:off x="1028700" y="4461803"/>
            <a:ext cx="16230600" cy="650410"/>
            <a:chOff x="0" y="0"/>
            <a:chExt cx="4274726" cy="171301"/>
          </a:xfrm>
        </p:grpSpPr>
        <p:sp>
          <p:nvSpPr>
            <p:cNvPr id="4" name="Freeform 4"/>
            <p:cNvSpPr/>
            <p:nvPr/>
          </p:nvSpPr>
          <p:spPr>
            <a:xfrm>
              <a:off x="0" y="0"/>
              <a:ext cx="4274726" cy="171301"/>
            </a:xfrm>
            <a:custGeom>
              <a:avLst/>
              <a:gdLst/>
              <a:ahLst/>
              <a:cxnLst/>
              <a:rect l="l" t="t" r="r" b="b"/>
              <a:pathLst>
                <a:path w="4274726" h="171301">
                  <a:moveTo>
                    <a:pt x="28620" y="0"/>
                  </a:moveTo>
                  <a:lnTo>
                    <a:pt x="4246106" y="0"/>
                  </a:lnTo>
                  <a:cubicBezTo>
                    <a:pt x="4261912" y="0"/>
                    <a:pt x="4274726" y="12813"/>
                    <a:pt x="4274726" y="28620"/>
                  </a:cubicBezTo>
                  <a:lnTo>
                    <a:pt x="4274726" y="142682"/>
                  </a:lnTo>
                  <a:cubicBezTo>
                    <a:pt x="4274726" y="158488"/>
                    <a:pt x="4261912" y="171301"/>
                    <a:pt x="4246106" y="171301"/>
                  </a:cubicBezTo>
                  <a:lnTo>
                    <a:pt x="28620" y="171301"/>
                  </a:lnTo>
                  <a:cubicBezTo>
                    <a:pt x="12813" y="171301"/>
                    <a:pt x="0" y="158488"/>
                    <a:pt x="0" y="142682"/>
                  </a:cubicBezTo>
                  <a:lnTo>
                    <a:pt x="0" y="28620"/>
                  </a:lnTo>
                  <a:cubicBezTo>
                    <a:pt x="0" y="12813"/>
                    <a:pt x="12813" y="0"/>
                    <a:pt x="28620" y="0"/>
                  </a:cubicBezTo>
                  <a:close/>
                </a:path>
              </a:pathLst>
            </a:custGeom>
            <a:solidFill>
              <a:srgbClr val="000000">
                <a:alpha val="0"/>
              </a:srgbClr>
            </a:solidFill>
            <a:ln w="38100" cap="rnd">
              <a:solidFill>
                <a:srgbClr val="FBF9F1"/>
              </a:solidFill>
              <a:prstDash val="solid"/>
              <a:round/>
            </a:ln>
          </p:spPr>
          <p:txBody>
            <a:bodyPr/>
            <a:lstStyle/>
            <a:p>
              <a:endParaRPr lang="en-US"/>
            </a:p>
          </p:txBody>
        </p:sp>
        <p:sp>
          <p:nvSpPr>
            <p:cNvPr id="5" name="TextBox 5"/>
            <p:cNvSpPr txBox="1"/>
            <p:nvPr/>
          </p:nvSpPr>
          <p:spPr>
            <a:xfrm>
              <a:off x="0" y="-38100"/>
              <a:ext cx="4274726" cy="20940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63411" y="4581384"/>
            <a:ext cx="408164" cy="411249"/>
          </a:xfrm>
          <a:custGeom>
            <a:avLst/>
            <a:gdLst/>
            <a:ahLst/>
            <a:cxnLst/>
            <a:rect l="l" t="t" r="r" b="b"/>
            <a:pathLst>
              <a:path w="408164" h="411249">
                <a:moveTo>
                  <a:pt x="0" y="0"/>
                </a:moveTo>
                <a:lnTo>
                  <a:pt x="408164" y="0"/>
                </a:lnTo>
                <a:lnTo>
                  <a:pt x="408164" y="411249"/>
                </a:lnTo>
                <a:lnTo>
                  <a:pt x="0" y="411249"/>
                </a:lnTo>
                <a:lnTo>
                  <a:pt x="0" y="0"/>
                </a:lnTo>
                <a:close/>
              </a:path>
            </a:pathLst>
          </a:custGeom>
          <a:blipFill>
            <a:blip r:embed="rId3"/>
            <a:stretch>
              <a:fillRect/>
            </a:stretch>
          </a:blipFill>
        </p:spPr>
        <p:txBody>
          <a:bodyPr/>
          <a:lstStyle/>
          <a:p>
            <a:endParaRPr lang="en-US"/>
          </a:p>
        </p:txBody>
      </p:sp>
      <p:sp>
        <p:nvSpPr>
          <p:cNvPr id="7" name="Freeform 7"/>
          <p:cNvSpPr/>
          <p:nvPr/>
        </p:nvSpPr>
        <p:spPr>
          <a:xfrm>
            <a:off x="5499461" y="4567019"/>
            <a:ext cx="408164" cy="411249"/>
          </a:xfrm>
          <a:custGeom>
            <a:avLst/>
            <a:gdLst/>
            <a:ahLst/>
            <a:cxnLst/>
            <a:rect l="l" t="t" r="r" b="b"/>
            <a:pathLst>
              <a:path w="408164" h="411249">
                <a:moveTo>
                  <a:pt x="0" y="0"/>
                </a:moveTo>
                <a:lnTo>
                  <a:pt x="408165" y="0"/>
                </a:lnTo>
                <a:lnTo>
                  <a:pt x="408165" y="411249"/>
                </a:lnTo>
                <a:lnTo>
                  <a:pt x="0" y="411249"/>
                </a:lnTo>
                <a:lnTo>
                  <a:pt x="0" y="0"/>
                </a:lnTo>
                <a:close/>
              </a:path>
            </a:pathLst>
          </a:custGeom>
          <a:blipFill>
            <a:blip r:embed="rId3"/>
            <a:stretch>
              <a:fillRect/>
            </a:stretch>
          </a:blipFill>
        </p:spPr>
        <p:txBody>
          <a:bodyPr/>
          <a:lstStyle/>
          <a:p>
            <a:endParaRPr lang="en-US"/>
          </a:p>
        </p:txBody>
      </p:sp>
      <p:sp>
        <p:nvSpPr>
          <p:cNvPr id="8" name="Freeform 8"/>
          <p:cNvSpPr/>
          <p:nvPr/>
        </p:nvSpPr>
        <p:spPr>
          <a:xfrm>
            <a:off x="9535512" y="4552655"/>
            <a:ext cx="408164" cy="411249"/>
          </a:xfrm>
          <a:custGeom>
            <a:avLst/>
            <a:gdLst/>
            <a:ahLst/>
            <a:cxnLst/>
            <a:rect l="l" t="t" r="r" b="b"/>
            <a:pathLst>
              <a:path w="408164" h="411249">
                <a:moveTo>
                  <a:pt x="0" y="0"/>
                </a:moveTo>
                <a:lnTo>
                  <a:pt x="408164" y="0"/>
                </a:lnTo>
                <a:lnTo>
                  <a:pt x="408164" y="411248"/>
                </a:lnTo>
                <a:lnTo>
                  <a:pt x="0" y="411248"/>
                </a:lnTo>
                <a:lnTo>
                  <a:pt x="0" y="0"/>
                </a:lnTo>
                <a:close/>
              </a:path>
            </a:pathLst>
          </a:custGeom>
          <a:blipFill>
            <a:blip r:embed="rId3"/>
            <a:stretch>
              <a:fillRect/>
            </a:stretch>
          </a:blipFill>
        </p:spPr>
        <p:txBody>
          <a:bodyPr/>
          <a:lstStyle/>
          <a:p>
            <a:endParaRPr lang="en-US"/>
          </a:p>
        </p:txBody>
      </p:sp>
      <p:sp>
        <p:nvSpPr>
          <p:cNvPr id="9" name="Freeform 9"/>
          <p:cNvSpPr/>
          <p:nvPr/>
        </p:nvSpPr>
        <p:spPr>
          <a:xfrm>
            <a:off x="13571562" y="4538290"/>
            <a:ext cx="408164" cy="411249"/>
          </a:xfrm>
          <a:custGeom>
            <a:avLst/>
            <a:gdLst/>
            <a:ahLst/>
            <a:cxnLst/>
            <a:rect l="l" t="t" r="r" b="b"/>
            <a:pathLst>
              <a:path w="408164" h="411249">
                <a:moveTo>
                  <a:pt x="0" y="0"/>
                </a:moveTo>
                <a:lnTo>
                  <a:pt x="408164" y="0"/>
                </a:lnTo>
                <a:lnTo>
                  <a:pt x="408164" y="411249"/>
                </a:lnTo>
                <a:lnTo>
                  <a:pt x="0" y="411249"/>
                </a:lnTo>
                <a:lnTo>
                  <a:pt x="0" y="0"/>
                </a:lnTo>
                <a:close/>
              </a:path>
            </a:pathLst>
          </a:custGeom>
          <a:blipFill>
            <a:blip r:embed="rId3"/>
            <a:stretch>
              <a:fillRect/>
            </a:stretch>
          </a:blipFill>
        </p:spPr>
        <p:txBody>
          <a:bodyPr/>
          <a:lstStyle/>
          <a:p>
            <a:endParaRPr lang="en-US"/>
          </a:p>
        </p:txBody>
      </p:sp>
      <p:sp>
        <p:nvSpPr>
          <p:cNvPr id="10" name="Freeform 10"/>
          <p:cNvSpPr/>
          <p:nvPr/>
        </p:nvSpPr>
        <p:spPr>
          <a:xfrm>
            <a:off x="9089184" y="2269901"/>
            <a:ext cx="650410" cy="650410"/>
          </a:xfrm>
          <a:custGeom>
            <a:avLst/>
            <a:gdLst/>
            <a:ahLst/>
            <a:cxnLst/>
            <a:rect l="l" t="t" r="r" b="b"/>
            <a:pathLst>
              <a:path w="650410" h="650410">
                <a:moveTo>
                  <a:pt x="0" y="0"/>
                </a:moveTo>
                <a:lnTo>
                  <a:pt x="650410" y="0"/>
                </a:lnTo>
                <a:lnTo>
                  <a:pt x="650410" y="650411"/>
                </a:lnTo>
                <a:lnTo>
                  <a:pt x="0" y="6504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496004" y="5540838"/>
            <a:ext cx="3220434"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2021 </a:t>
            </a:r>
          </a:p>
        </p:txBody>
      </p:sp>
      <p:sp>
        <p:nvSpPr>
          <p:cNvPr id="12" name="TextBox 12"/>
          <p:cNvSpPr txBox="1"/>
          <p:nvPr/>
        </p:nvSpPr>
        <p:spPr>
          <a:xfrm>
            <a:off x="1463411" y="6261874"/>
            <a:ext cx="3253027" cy="2725420"/>
          </a:xfrm>
          <a:prstGeom prst="rect">
            <a:avLst/>
          </a:prstGeom>
        </p:spPr>
        <p:txBody>
          <a:bodyPr lIns="0" tIns="0" rIns="0" bIns="0" rtlCol="0" anchor="t">
            <a:spAutoFit/>
          </a:bodyPr>
          <a:lstStyle/>
          <a:p>
            <a:pPr algn="l">
              <a:lnSpc>
                <a:spcPts val="3079"/>
              </a:lnSpc>
              <a:spcBef>
                <a:spcPct val="0"/>
              </a:spcBef>
            </a:pPr>
            <a:r>
              <a:rPr lang="en-US" sz="2199">
                <a:solidFill>
                  <a:srgbClr val="E5E1DA"/>
                </a:solidFill>
                <a:latin typeface="Lato"/>
                <a:ea typeface="Lato"/>
                <a:cs typeface="Lato"/>
                <a:sym typeface="Lato"/>
              </a:rPr>
              <a:t>In our first year, we successfully launched a new product/service, received positive feedback from early users, and formed partnerships with key industry players.</a:t>
            </a:r>
          </a:p>
        </p:txBody>
      </p:sp>
      <p:sp>
        <p:nvSpPr>
          <p:cNvPr id="13" name="TextBox 13"/>
          <p:cNvSpPr txBox="1"/>
          <p:nvPr/>
        </p:nvSpPr>
        <p:spPr>
          <a:xfrm>
            <a:off x="1028700" y="1290181"/>
            <a:ext cx="6422340" cy="26003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PROJECT REQUIREMENTS/CONSTRAINTS</a:t>
            </a:r>
          </a:p>
        </p:txBody>
      </p:sp>
      <p:sp>
        <p:nvSpPr>
          <p:cNvPr id="14" name="TextBox 14"/>
          <p:cNvSpPr txBox="1"/>
          <p:nvPr/>
        </p:nvSpPr>
        <p:spPr>
          <a:xfrm>
            <a:off x="5532055" y="5540838"/>
            <a:ext cx="3220434"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2023</a:t>
            </a:r>
          </a:p>
        </p:txBody>
      </p:sp>
      <p:sp>
        <p:nvSpPr>
          <p:cNvPr id="15" name="TextBox 15"/>
          <p:cNvSpPr txBox="1"/>
          <p:nvPr/>
        </p:nvSpPr>
        <p:spPr>
          <a:xfrm>
            <a:off x="5499461" y="6261874"/>
            <a:ext cx="3253027" cy="1944370"/>
          </a:xfrm>
          <a:prstGeom prst="rect">
            <a:avLst/>
          </a:prstGeom>
        </p:spPr>
        <p:txBody>
          <a:bodyPr lIns="0" tIns="0" rIns="0" bIns="0" rtlCol="0" anchor="t">
            <a:spAutoFit/>
          </a:bodyPr>
          <a:lstStyle/>
          <a:p>
            <a:pPr algn="l">
              <a:lnSpc>
                <a:spcPts val="3079"/>
              </a:lnSpc>
              <a:spcBef>
                <a:spcPct val="0"/>
              </a:spcBef>
            </a:pPr>
            <a:r>
              <a:rPr lang="en-US" sz="2199">
                <a:solidFill>
                  <a:srgbClr val="E5E1DA"/>
                </a:solidFill>
                <a:latin typeface="Lato"/>
                <a:ea typeface="Lato"/>
                <a:cs typeface="Lato"/>
                <a:sym typeface="Lato"/>
              </a:rPr>
              <a:t>We expanded into new markets, improved operational efficiency, and saw an increase in customer satisfaction.</a:t>
            </a:r>
          </a:p>
        </p:txBody>
      </p:sp>
      <p:sp>
        <p:nvSpPr>
          <p:cNvPr id="16" name="TextBox 16"/>
          <p:cNvSpPr txBox="1"/>
          <p:nvPr/>
        </p:nvSpPr>
        <p:spPr>
          <a:xfrm>
            <a:off x="9568105" y="5540838"/>
            <a:ext cx="3220434"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2025</a:t>
            </a:r>
          </a:p>
        </p:txBody>
      </p:sp>
      <p:sp>
        <p:nvSpPr>
          <p:cNvPr id="17" name="TextBox 17"/>
          <p:cNvSpPr txBox="1"/>
          <p:nvPr/>
        </p:nvSpPr>
        <p:spPr>
          <a:xfrm>
            <a:off x="9535512" y="6261874"/>
            <a:ext cx="3253027" cy="2334895"/>
          </a:xfrm>
          <a:prstGeom prst="rect">
            <a:avLst/>
          </a:prstGeom>
        </p:spPr>
        <p:txBody>
          <a:bodyPr lIns="0" tIns="0" rIns="0" bIns="0" rtlCol="0" anchor="t">
            <a:spAutoFit/>
          </a:bodyPr>
          <a:lstStyle/>
          <a:p>
            <a:pPr algn="l">
              <a:lnSpc>
                <a:spcPts val="3079"/>
              </a:lnSpc>
              <a:spcBef>
                <a:spcPct val="0"/>
              </a:spcBef>
            </a:pPr>
            <a:r>
              <a:rPr lang="en-US" sz="2199">
                <a:solidFill>
                  <a:srgbClr val="E5E1DA"/>
                </a:solidFill>
                <a:latin typeface="Lato"/>
                <a:ea typeface="Lato"/>
                <a:cs typeface="Lato"/>
                <a:sym typeface="Lato"/>
              </a:rPr>
              <a:t>We secured funding for growth, refined our offerings based on customer feedback, and formed strategic partnerships.</a:t>
            </a:r>
          </a:p>
        </p:txBody>
      </p:sp>
      <p:sp>
        <p:nvSpPr>
          <p:cNvPr id="18" name="TextBox 18"/>
          <p:cNvSpPr txBox="1"/>
          <p:nvPr/>
        </p:nvSpPr>
        <p:spPr>
          <a:xfrm>
            <a:off x="13604155" y="5540838"/>
            <a:ext cx="3220434"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Present</a:t>
            </a:r>
          </a:p>
        </p:txBody>
      </p:sp>
      <p:sp>
        <p:nvSpPr>
          <p:cNvPr id="19" name="TextBox 19"/>
          <p:cNvSpPr txBox="1"/>
          <p:nvPr/>
        </p:nvSpPr>
        <p:spPr>
          <a:xfrm>
            <a:off x="13571562" y="6261874"/>
            <a:ext cx="3253027" cy="2334895"/>
          </a:xfrm>
          <a:prstGeom prst="rect">
            <a:avLst/>
          </a:prstGeom>
        </p:spPr>
        <p:txBody>
          <a:bodyPr lIns="0" tIns="0" rIns="0" bIns="0" rtlCol="0" anchor="t">
            <a:spAutoFit/>
          </a:bodyPr>
          <a:lstStyle/>
          <a:p>
            <a:pPr algn="l">
              <a:lnSpc>
                <a:spcPts val="3079"/>
              </a:lnSpc>
              <a:spcBef>
                <a:spcPct val="0"/>
              </a:spcBef>
            </a:pPr>
            <a:r>
              <a:rPr lang="en-US" sz="2199">
                <a:solidFill>
                  <a:srgbClr val="E5E1DA"/>
                </a:solidFill>
                <a:latin typeface="Lato"/>
                <a:ea typeface="Lato"/>
                <a:cs typeface="Lato"/>
                <a:sym typeface="Lato"/>
              </a:rPr>
              <a:t>We achieved profitability, expanded our product line, and strengthened our brand reputation through positive customer feedback.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a:off x="-6844491" y="-3015084"/>
            <a:ext cx="9744477" cy="7040385"/>
          </a:xfrm>
          <a:custGeom>
            <a:avLst/>
            <a:gdLst/>
            <a:ahLst/>
            <a:cxnLst/>
            <a:rect l="l" t="t" r="r" b="b"/>
            <a:pathLst>
              <a:path w="9744477" h="7040385">
                <a:moveTo>
                  <a:pt x="0" y="0"/>
                </a:moveTo>
                <a:lnTo>
                  <a:pt x="9744477" y="0"/>
                </a:lnTo>
                <a:lnTo>
                  <a:pt x="9744477" y="7040385"/>
                </a:lnTo>
                <a:lnTo>
                  <a:pt x="0" y="7040385"/>
                </a:lnTo>
                <a:lnTo>
                  <a:pt x="0" y="0"/>
                </a:lnTo>
                <a:close/>
              </a:path>
            </a:pathLst>
          </a:custGeom>
          <a:blipFill>
            <a:blip r:embed="rId2"/>
            <a:stretch>
              <a:fillRect/>
            </a:stretch>
          </a:blipFill>
        </p:spPr>
        <p:txBody>
          <a:bodyPr/>
          <a:lstStyle/>
          <a:p>
            <a:endParaRPr lang="en-US"/>
          </a:p>
        </p:txBody>
      </p:sp>
      <p:sp>
        <p:nvSpPr>
          <p:cNvPr id="3" name="Freeform 3"/>
          <p:cNvSpPr/>
          <p:nvPr/>
        </p:nvSpPr>
        <p:spPr>
          <a:xfrm rot="5400000">
            <a:off x="14011079" y="-2759658"/>
            <a:ext cx="9744477" cy="7040385"/>
          </a:xfrm>
          <a:custGeom>
            <a:avLst/>
            <a:gdLst/>
            <a:ahLst/>
            <a:cxnLst/>
            <a:rect l="l" t="t" r="r" b="b"/>
            <a:pathLst>
              <a:path w="9744477" h="7040385">
                <a:moveTo>
                  <a:pt x="0" y="0"/>
                </a:moveTo>
                <a:lnTo>
                  <a:pt x="9744477" y="0"/>
                </a:lnTo>
                <a:lnTo>
                  <a:pt x="9744477" y="7040385"/>
                </a:lnTo>
                <a:lnTo>
                  <a:pt x="0" y="7040385"/>
                </a:lnTo>
                <a:lnTo>
                  <a:pt x="0" y="0"/>
                </a:lnTo>
                <a:close/>
              </a:path>
            </a:pathLst>
          </a:custGeom>
          <a:blipFill>
            <a:blip r:embed="rId2"/>
            <a:stretch>
              <a:fillRect/>
            </a:stretch>
          </a:blipFill>
        </p:spPr>
        <p:txBody>
          <a:bodyPr/>
          <a:lstStyle/>
          <a:p>
            <a:endParaRPr lang="en-US"/>
          </a:p>
        </p:txBody>
      </p:sp>
      <p:sp>
        <p:nvSpPr>
          <p:cNvPr id="4" name="Freeform 4"/>
          <p:cNvSpPr/>
          <p:nvPr/>
        </p:nvSpPr>
        <p:spPr>
          <a:xfrm>
            <a:off x="760535" y="4910099"/>
            <a:ext cx="705511" cy="722674"/>
          </a:xfrm>
          <a:custGeom>
            <a:avLst/>
            <a:gdLst/>
            <a:ahLst/>
            <a:cxnLst/>
            <a:rect l="l" t="t" r="r" b="b"/>
            <a:pathLst>
              <a:path w="705511" h="722674">
                <a:moveTo>
                  <a:pt x="0" y="0"/>
                </a:moveTo>
                <a:lnTo>
                  <a:pt x="705510" y="0"/>
                </a:lnTo>
                <a:lnTo>
                  <a:pt x="705510" y="722674"/>
                </a:lnTo>
                <a:lnTo>
                  <a:pt x="0" y="722674"/>
                </a:lnTo>
                <a:lnTo>
                  <a:pt x="0" y="0"/>
                </a:lnTo>
                <a:close/>
              </a:path>
            </a:pathLst>
          </a:custGeom>
          <a:blipFill>
            <a:blip r:embed="rId3"/>
            <a:stretch>
              <a:fillRect/>
            </a:stretch>
          </a:blipFill>
        </p:spPr>
        <p:txBody>
          <a:bodyPr/>
          <a:lstStyle/>
          <a:p>
            <a:endParaRPr lang="en-US"/>
          </a:p>
        </p:txBody>
      </p:sp>
      <p:sp>
        <p:nvSpPr>
          <p:cNvPr id="5" name="Freeform 5"/>
          <p:cNvSpPr/>
          <p:nvPr/>
        </p:nvSpPr>
        <p:spPr>
          <a:xfrm>
            <a:off x="760535" y="4910099"/>
            <a:ext cx="717254" cy="722674"/>
          </a:xfrm>
          <a:custGeom>
            <a:avLst/>
            <a:gdLst/>
            <a:ahLst/>
            <a:cxnLst/>
            <a:rect l="l" t="t" r="r" b="b"/>
            <a:pathLst>
              <a:path w="717254" h="722674">
                <a:moveTo>
                  <a:pt x="0" y="0"/>
                </a:moveTo>
                <a:lnTo>
                  <a:pt x="717254" y="0"/>
                </a:lnTo>
                <a:lnTo>
                  <a:pt x="717254" y="722674"/>
                </a:lnTo>
                <a:lnTo>
                  <a:pt x="0" y="722674"/>
                </a:lnTo>
                <a:lnTo>
                  <a:pt x="0" y="0"/>
                </a:lnTo>
                <a:close/>
              </a:path>
            </a:pathLst>
          </a:custGeom>
          <a:blipFill>
            <a:blip r:embed="rId4"/>
            <a:stretch>
              <a:fillRect/>
            </a:stretch>
          </a:blipFill>
        </p:spPr>
        <p:txBody>
          <a:bodyPr/>
          <a:lstStyle/>
          <a:p>
            <a:endParaRPr lang="en-US"/>
          </a:p>
        </p:txBody>
      </p:sp>
      <p:sp>
        <p:nvSpPr>
          <p:cNvPr id="6" name="Freeform 6"/>
          <p:cNvSpPr/>
          <p:nvPr/>
        </p:nvSpPr>
        <p:spPr>
          <a:xfrm>
            <a:off x="6777204" y="4910099"/>
            <a:ext cx="717254" cy="722674"/>
          </a:xfrm>
          <a:custGeom>
            <a:avLst/>
            <a:gdLst/>
            <a:ahLst/>
            <a:cxnLst/>
            <a:rect l="l" t="t" r="r" b="b"/>
            <a:pathLst>
              <a:path w="717254" h="722674">
                <a:moveTo>
                  <a:pt x="0" y="0"/>
                </a:moveTo>
                <a:lnTo>
                  <a:pt x="717254" y="0"/>
                </a:lnTo>
                <a:lnTo>
                  <a:pt x="717254" y="722674"/>
                </a:lnTo>
                <a:lnTo>
                  <a:pt x="0" y="722674"/>
                </a:lnTo>
                <a:lnTo>
                  <a:pt x="0" y="0"/>
                </a:lnTo>
                <a:close/>
              </a:path>
            </a:pathLst>
          </a:custGeom>
          <a:blipFill>
            <a:blip r:embed="rId4"/>
            <a:stretch>
              <a:fillRect/>
            </a:stretch>
          </a:blipFill>
        </p:spPr>
        <p:txBody>
          <a:bodyPr/>
          <a:lstStyle/>
          <a:p>
            <a:endParaRPr lang="en-US"/>
          </a:p>
        </p:txBody>
      </p:sp>
      <p:sp>
        <p:nvSpPr>
          <p:cNvPr id="7" name="Freeform 7"/>
          <p:cNvSpPr/>
          <p:nvPr/>
        </p:nvSpPr>
        <p:spPr>
          <a:xfrm>
            <a:off x="7135831" y="4682845"/>
            <a:ext cx="1256063" cy="1359911"/>
          </a:xfrm>
          <a:custGeom>
            <a:avLst/>
            <a:gdLst/>
            <a:ahLst/>
            <a:cxnLst/>
            <a:rect l="l" t="t" r="r" b="b"/>
            <a:pathLst>
              <a:path w="1256063" h="1359911">
                <a:moveTo>
                  <a:pt x="0" y="0"/>
                </a:moveTo>
                <a:lnTo>
                  <a:pt x="1256063" y="0"/>
                </a:lnTo>
                <a:lnTo>
                  <a:pt x="1256063" y="1359911"/>
                </a:lnTo>
                <a:lnTo>
                  <a:pt x="0" y="13599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1263073" y="4682845"/>
            <a:ext cx="1359911" cy="1359911"/>
          </a:xfrm>
          <a:custGeom>
            <a:avLst/>
            <a:gdLst/>
            <a:ahLst/>
            <a:cxnLst/>
            <a:rect l="l" t="t" r="r" b="b"/>
            <a:pathLst>
              <a:path w="1359911" h="1359911">
                <a:moveTo>
                  <a:pt x="0" y="0"/>
                </a:moveTo>
                <a:lnTo>
                  <a:pt x="1359911" y="0"/>
                </a:lnTo>
                <a:lnTo>
                  <a:pt x="1359911" y="1359911"/>
                </a:lnTo>
                <a:lnTo>
                  <a:pt x="0" y="13599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12793873" y="4910099"/>
            <a:ext cx="717254" cy="722674"/>
          </a:xfrm>
          <a:custGeom>
            <a:avLst/>
            <a:gdLst/>
            <a:ahLst/>
            <a:cxnLst/>
            <a:rect l="l" t="t" r="r" b="b"/>
            <a:pathLst>
              <a:path w="717254" h="722674">
                <a:moveTo>
                  <a:pt x="0" y="0"/>
                </a:moveTo>
                <a:lnTo>
                  <a:pt x="717254" y="0"/>
                </a:lnTo>
                <a:lnTo>
                  <a:pt x="717254" y="722674"/>
                </a:lnTo>
                <a:lnTo>
                  <a:pt x="0" y="722674"/>
                </a:lnTo>
                <a:lnTo>
                  <a:pt x="0" y="0"/>
                </a:lnTo>
                <a:close/>
              </a:path>
            </a:pathLst>
          </a:custGeom>
          <a:blipFill>
            <a:blip r:embed="rId4"/>
            <a:stretch>
              <a:fillRect/>
            </a:stretch>
          </a:blipFill>
        </p:spPr>
        <p:txBody>
          <a:bodyPr/>
          <a:lstStyle/>
          <a:p>
            <a:endParaRPr lang="en-US"/>
          </a:p>
        </p:txBody>
      </p:sp>
      <p:sp>
        <p:nvSpPr>
          <p:cNvPr id="10" name="Freeform 10"/>
          <p:cNvSpPr/>
          <p:nvPr/>
        </p:nvSpPr>
        <p:spPr>
          <a:xfrm>
            <a:off x="13152500" y="4792769"/>
            <a:ext cx="1504361" cy="1249988"/>
          </a:xfrm>
          <a:custGeom>
            <a:avLst/>
            <a:gdLst/>
            <a:ahLst/>
            <a:cxnLst/>
            <a:rect l="l" t="t" r="r" b="b"/>
            <a:pathLst>
              <a:path w="1504361" h="1249988">
                <a:moveTo>
                  <a:pt x="0" y="0"/>
                </a:moveTo>
                <a:lnTo>
                  <a:pt x="1504361" y="0"/>
                </a:lnTo>
                <a:lnTo>
                  <a:pt x="1504361" y="1249987"/>
                </a:lnTo>
                <a:lnTo>
                  <a:pt x="0" y="12499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TextBox 11"/>
          <p:cNvSpPr txBox="1"/>
          <p:nvPr/>
        </p:nvSpPr>
        <p:spPr>
          <a:xfrm>
            <a:off x="760535" y="6414231"/>
            <a:ext cx="4733925" cy="422275"/>
          </a:xfrm>
          <a:prstGeom prst="rect">
            <a:avLst/>
          </a:prstGeom>
        </p:spPr>
        <p:txBody>
          <a:bodyPr lIns="0" tIns="0" rIns="0" bIns="0" rtlCol="0" anchor="t">
            <a:spAutoFit/>
          </a:bodyPr>
          <a:lstStyle/>
          <a:p>
            <a:pPr algn="l">
              <a:lnSpc>
                <a:spcPts val="3499"/>
              </a:lnSpc>
              <a:spcBef>
                <a:spcPct val="0"/>
              </a:spcBef>
            </a:pPr>
            <a:r>
              <a:rPr lang="en-US" sz="2499" b="1">
                <a:solidFill>
                  <a:srgbClr val="FBF9F1"/>
                </a:solidFill>
                <a:latin typeface="Lato Bold"/>
                <a:ea typeface="Lato Bold"/>
                <a:cs typeface="Lato Bold"/>
                <a:sym typeface="Lato Bold"/>
              </a:rPr>
              <a:t>Find Unique Selling Point</a:t>
            </a:r>
          </a:p>
        </p:txBody>
      </p:sp>
      <p:sp>
        <p:nvSpPr>
          <p:cNvPr id="12" name="TextBox 12"/>
          <p:cNvSpPr txBox="1"/>
          <p:nvPr/>
        </p:nvSpPr>
        <p:spPr>
          <a:xfrm>
            <a:off x="760535" y="7208393"/>
            <a:ext cx="4733925" cy="2223135"/>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Help startups figure out what makes them special and build their brand around it. This involves learning about their competitors and target audience, then creating a clear message that sets them apart.</a:t>
            </a:r>
          </a:p>
        </p:txBody>
      </p:sp>
      <p:sp>
        <p:nvSpPr>
          <p:cNvPr id="13" name="TextBox 13"/>
          <p:cNvSpPr txBox="1"/>
          <p:nvPr/>
        </p:nvSpPr>
        <p:spPr>
          <a:xfrm>
            <a:off x="3127497" y="1019175"/>
            <a:ext cx="7096492" cy="9239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PROJECT DESIGN </a:t>
            </a:r>
          </a:p>
        </p:txBody>
      </p:sp>
      <p:sp>
        <p:nvSpPr>
          <p:cNvPr id="14" name="TextBox 14"/>
          <p:cNvSpPr txBox="1"/>
          <p:nvPr/>
        </p:nvSpPr>
        <p:spPr>
          <a:xfrm>
            <a:off x="6777204" y="6414231"/>
            <a:ext cx="4733925" cy="422275"/>
          </a:xfrm>
          <a:prstGeom prst="rect">
            <a:avLst/>
          </a:prstGeom>
        </p:spPr>
        <p:txBody>
          <a:bodyPr lIns="0" tIns="0" rIns="0" bIns="0" rtlCol="0" anchor="t">
            <a:spAutoFit/>
          </a:bodyPr>
          <a:lstStyle/>
          <a:p>
            <a:pPr algn="l">
              <a:lnSpc>
                <a:spcPts val="3499"/>
              </a:lnSpc>
              <a:spcBef>
                <a:spcPct val="0"/>
              </a:spcBef>
            </a:pPr>
            <a:r>
              <a:rPr lang="en-US" sz="2499" b="1">
                <a:solidFill>
                  <a:srgbClr val="FBF9F1"/>
                </a:solidFill>
                <a:latin typeface="Lato Bold"/>
                <a:ea typeface="Lato Bold"/>
                <a:cs typeface="Lato Bold"/>
                <a:sym typeface="Lato Bold"/>
              </a:rPr>
              <a:t>Brand Messaging Guidelines</a:t>
            </a:r>
          </a:p>
        </p:txBody>
      </p:sp>
      <p:sp>
        <p:nvSpPr>
          <p:cNvPr id="15" name="TextBox 15"/>
          <p:cNvSpPr txBox="1"/>
          <p:nvPr/>
        </p:nvSpPr>
        <p:spPr>
          <a:xfrm>
            <a:off x="6777204" y="7208393"/>
            <a:ext cx="4733925" cy="1851660"/>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Make sure all of the startup's marketing materials send the same message. This means having clear guidelines for how they talk about themselves and making sure everyone sticks to them.</a:t>
            </a:r>
          </a:p>
        </p:txBody>
      </p:sp>
      <p:sp>
        <p:nvSpPr>
          <p:cNvPr id="16" name="TextBox 16"/>
          <p:cNvSpPr txBox="1"/>
          <p:nvPr/>
        </p:nvSpPr>
        <p:spPr>
          <a:xfrm>
            <a:off x="12793873" y="6414231"/>
            <a:ext cx="4733593" cy="422275"/>
          </a:xfrm>
          <a:prstGeom prst="rect">
            <a:avLst/>
          </a:prstGeom>
        </p:spPr>
        <p:txBody>
          <a:bodyPr lIns="0" tIns="0" rIns="0" bIns="0" rtlCol="0" anchor="t">
            <a:spAutoFit/>
          </a:bodyPr>
          <a:lstStyle/>
          <a:p>
            <a:pPr algn="l">
              <a:lnSpc>
                <a:spcPts val="3499"/>
              </a:lnSpc>
              <a:spcBef>
                <a:spcPct val="0"/>
              </a:spcBef>
            </a:pPr>
            <a:r>
              <a:rPr lang="en-US" sz="2499" b="1">
                <a:solidFill>
                  <a:srgbClr val="FBF9F1"/>
                </a:solidFill>
                <a:latin typeface="Lato Bold"/>
                <a:ea typeface="Lato Bold"/>
                <a:cs typeface="Lato Bold"/>
                <a:sym typeface="Lato Bold"/>
              </a:rPr>
              <a:t>Agile Marketing Approach</a:t>
            </a:r>
          </a:p>
        </p:txBody>
      </p:sp>
      <p:sp>
        <p:nvSpPr>
          <p:cNvPr id="17" name="TextBox 17"/>
          <p:cNvSpPr txBox="1"/>
          <p:nvPr/>
        </p:nvSpPr>
        <p:spPr>
          <a:xfrm>
            <a:off x="12793873" y="7208393"/>
            <a:ext cx="4733593" cy="2223135"/>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Help startups adapt quickly to changes in the market. This means keeping an eye on what's happening, analyzing data, and being willing to try new things to keep their marketing strategy fresh and effective.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4438636" y="4802688"/>
            <a:ext cx="8729104" cy="681625"/>
            <a:chOff x="0" y="0"/>
            <a:chExt cx="2299023" cy="179523"/>
          </a:xfrm>
        </p:grpSpPr>
        <p:sp>
          <p:nvSpPr>
            <p:cNvPr id="3" name="Freeform 3"/>
            <p:cNvSpPr/>
            <p:nvPr/>
          </p:nvSpPr>
          <p:spPr>
            <a:xfrm>
              <a:off x="0" y="0"/>
              <a:ext cx="2299023" cy="179523"/>
            </a:xfrm>
            <a:custGeom>
              <a:avLst/>
              <a:gdLst/>
              <a:ahLst/>
              <a:cxnLst/>
              <a:rect l="l" t="t" r="r" b="b"/>
              <a:pathLst>
                <a:path w="2299023" h="1795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w="38100" cap="rnd">
              <a:solidFill>
                <a:srgbClr val="E5E1DA"/>
              </a:solidFill>
              <a:prstDash val="solid"/>
              <a:round/>
            </a:ln>
          </p:spPr>
          <p:txBody>
            <a:bodyPr/>
            <a:lstStyle/>
            <a:p>
              <a:endParaRPr lang="en-US"/>
            </a:p>
          </p:txBody>
        </p:sp>
        <p:sp>
          <p:nvSpPr>
            <p:cNvPr id="4" name="TextBox 4"/>
            <p:cNvSpPr txBox="1"/>
            <p:nvPr/>
          </p:nvSpPr>
          <p:spPr>
            <a:xfrm>
              <a:off x="0" y="-38100"/>
              <a:ext cx="2299023" cy="21762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574588" y="926782"/>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2"/>
            <a:stretch>
              <a:fillRect/>
            </a:stretch>
          </a:blipFill>
        </p:spPr>
        <p:txBody>
          <a:bodyPr/>
          <a:lstStyle/>
          <a:p>
            <a:endParaRPr lang="en-US"/>
          </a:p>
        </p:txBody>
      </p:sp>
      <p:sp>
        <p:nvSpPr>
          <p:cNvPr id="6" name="Freeform 6"/>
          <p:cNvSpPr/>
          <p:nvPr/>
        </p:nvSpPr>
        <p:spPr>
          <a:xfrm>
            <a:off x="8574588" y="4010041"/>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2"/>
            <a:stretch>
              <a:fillRect/>
            </a:stretch>
          </a:blipFill>
        </p:spPr>
        <p:txBody>
          <a:bodyPr/>
          <a:lstStyle/>
          <a:p>
            <a:endParaRPr lang="en-US"/>
          </a:p>
        </p:txBody>
      </p:sp>
      <p:sp>
        <p:nvSpPr>
          <p:cNvPr id="7" name="Freeform 7"/>
          <p:cNvSpPr/>
          <p:nvPr/>
        </p:nvSpPr>
        <p:spPr>
          <a:xfrm>
            <a:off x="8574588" y="7505560"/>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2"/>
            <a:stretch>
              <a:fillRect/>
            </a:stretch>
          </a:blipFill>
        </p:spPr>
        <p:txBody>
          <a:bodyPr/>
          <a:lstStyle/>
          <a:p>
            <a:endParaRPr lang="en-US"/>
          </a:p>
        </p:txBody>
      </p:sp>
      <p:sp>
        <p:nvSpPr>
          <p:cNvPr id="8" name="Freeform 8"/>
          <p:cNvSpPr/>
          <p:nvPr/>
        </p:nvSpPr>
        <p:spPr>
          <a:xfrm>
            <a:off x="1028700" y="836188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10435729">
            <a:off x="-696093" y="-3780464"/>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9798106" y="869632"/>
            <a:ext cx="5199649"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Lack of Brand Differentiation</a:t>
            </a:r>
          </a:p>
        </p:txBody>
      </p:sp>
      <p:sp>
        <p:nvSpPr>
          <p:cNvPr id="11" name="TextBox 11"/>
          <p:cNvSpPr txBox="1"/>
          <p:nvPr/>
        </p:nvSpPr>
        <p:spPr>
          <a:xfrm>
            <a:off x="9798106" y="1631944"/>
            <a:ext cx="7461194" cy="1480185"/>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Startups often find it hard to make their brand unique in a crowded market. Without a clear way to stand out, they struggle to catch the eye of potential customers and lose out to bigger competitors.</a:t>
            </a:r>
          </a:p>
        </p:txBody>
      </p:sp>
      <p:sp>
        <p:nvSpPr>
          <p:cNvPr id="12" name="TextBox 12"/>
          <p:cNvSpPr txBox="1"/>
          <p:nvPr/>
        </p:nvSpPr>
        <p:spPr>
          <a:xfrm>
            <a:off x="1028700" y="5447765"/>
            <a:ext cx="6776450" cy="17621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PROJECT IMPLEMENTATION</a:t>
            </a:r>
          </a:p>
        </p:txBody>
      </p:sp>
      <p:sp>
        <p:nvSpPr>
          <p:cNvPr id="13" name="TextBox 13"/>
          <p:cNvSpPr txBox="1"/>
          <p:nvPr/>
        </p:nvSpPr>
        <p:spPr>
          <a:xfrm>
            <a:off x="9798106" y="3995893"/>
            <a:ext cx="5199649"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Inconsistent Brand Messaging</a:t>
            </a:r>
          </a:p>
        </p:txBody>
      </p:sp>
      <p:sp>
        <p:nvSpPr>
          <p:cNvPr id="14" name="TextBox 14"/>
          <p:cNvSpPr txBox="1"/>
          <p:nvPr/>
        </p:nvSpPr>
        <p:spPr>
          <a:xfrm>
            <a:off x="9798106" y="4755988"/>
            <a:ext cx="7461194" cy="1851660"/>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inconsistency in brand messaging across various marketing channels confuses potential customers and dilutes brand perception. Startups often face challenges in maintaining a cohesive message that effectively communicates their value proposition and resonates with their target audience.</a:t>
            </a:r>
          </a:p>
        </p:txBody>
      </p:sp>
      <p:sp>
        <p:nvSpPr>
          <p:cNvPr id="15" name="TextBox 15"/>
          <p:cNvSpPr txBox="1"/>
          <p:nvPr/>
        </p:nvSpPr>
        <p:spPr>
          <a:xfrm>
            <a:off x="9798106" y="7491412"/>
            <a:ext cx="5199649"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Keeping Up with Trends</a:t>
            </a:r>
          </a:p>
        </p:txBody>
      </p:sp>
      <p:sp>
        <p:nvSpPr>
          <p:cNvPr id="16" name="TextBox 16"/>
          <p:cNvSpPr txBox="1"/>
          <p:nvPr/>
        </p:nvSpPr>
        <p:spPr>
          <a:xfrm>
            <a:off x="9798106" y="8251507"/>
            <a:ext cx="7461194" cy="1108710"/>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The market changes fast, and startups need to keep up. But without a big team or resources, it's tough to stay on top of the latest trends and adapt their marketing strategies accordingly.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a:off x="-7116894" y="-3283768"/>
            <a:ext cx="9744477" cy="7040385"/>
          </a:xfrm>
          <a:custGeom>
            <a:avLst/>
            <a:gdLst/>
            <a:ahLst/>
            <a:cxnLst/>
            <a:rect l="l" t="t" r="r" b="b"/>
            <a:pathLst>
              <a:path w="9744477" h="7040385">
                <a:moveTo>
                  <a:pt x="0" y="0"/>
                </a:moveTo>
                <a:lnTo>
                  <a:pt x="9744477" y="0"/>
                </a:lnTo>
                <a:lnTo>
                  <a:pt x="9744477" y="7040384"/>
                </a:lnTo>
                <a:lnTo>
                  <a:pt x="0" y="7040384"/>
                </a:lnTo>
                <a:lnTo>
                  <a:pt x="0" y="0"/>
                </a:lnTo>
                <a:close/>
              </a:path>
            </a:pathLst>
          </a:custGeom>
          <a:blipFill>
            <a:blip r:embed="rId2"/>
            <a:stretch>
              <a:fillRect/>
            </a:stretch>
          </a:blipFill>
        </p:spPr>
        <p:txBody>
          <a:bodyPr/>
          <a:lstStyle/>
          <a:p>
            <a:endParaRPr lang="en-US"/>
          </a:p>
        </p:txBody>
      </p:sp>
      <p:sp>
        <p:nvSpPr>
          <p:cNvPr id="3" name="Freeform 3"/>
          <p:cNvSpPr/>
          <p:nvPr/>
        </p:nvSpPr>
        <p:spPr>
          <a:xfrm rot="7410612">
            <a:off x="15236894" y="3514366"/>
            <a:ext cx="9744477" cy="7040385"/>
          </a:xfrm>
          <a:custGeom>
            <a:avLst/>
            <a:gdLst/>
            <a:ahLst/>
            <a:cxnLst/>
            <a:rect l="l" t="t" r="r" b="b"/>
            <a:pathLst>
              <a:path w="9744477" h="7040385">
                <a:moveTo>
                  <a:pt x="0" y="0"/>
                </a:moveTo>
                <a:lnTo>
                  <a:pt x="9744477" y="0"/>
                </a:lnTo>
                <a:lnTo>
                  <a:pt x="9744477" y="7040385"/>
                </a:lnTo>
                <a:lnTo>
                  <a:pt x="0" y="7040385"/>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0031803" y="4054770"/>
            <a:ext cx="6497605" cy="1553845"/>
          </a:xfrm>
          <a:prstGeom prst="rect">
            <a:avLst/>
          </a:prstGeom>
        </p:spPr>
        <p:txBody>
          <a:bodyPr lIns="0" tIns="0" rIns="0" bIns="0" rtlCol="0" anchor="t">
            <a:spAutoFit/>
          </a:bodyPr>
          <a:lstStyle/>
          <a:p>
            <a:pPr algn="l">
              <a:lnSpc>
                <a:spcPts val="3080"/>
              </a:lnSpc>
              <a:spcBef>
                <a:spcPct val="0"/>
              </a:spcBef>
            </a:pPr>
            <a:r>
              <a:rPr lang="en-US" sz="2200">
                <a:solidFill>
                  <a:srgbClr val="E5E1DA"/>
                </a:solidFill>
                <a:latin typeface="Lato"/>
                <a:ea typeface="Lato"/>
                <a:cs typeface="Lato"/>
                <a:sym typeface="Lato"/>
              </a:rPr>
              <a:t>This matrix provides a snapshot of various success metrics for our company, including revenue growth, customer satisfaction, market share, employee retention, innovation, and brand reputation.</a:t>
            </a:r>
          </a:p>
        </p:txBody>
      </p:sp>
      <p:sp>
        <p:nvSpPr>
          <p:cNvPr id="5" name="TextBox 5"/>
          <p:cNvSpPr txBox="1"/>
          <p:nvPr/>
        </p:nvSpPr>
        <p:spPr>
          <a:xfrm>
            <a:off x="10031803" y="2832691"/>
            <a:ext cx="7227497" cy="9239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PROJECT TESTING</a:t>
            </a:r>
          </a:p>
        </p:txBody>
      </p:sp>
      <p:pic>
        <p:nvPicPr>
          <p:cNvPr id="6" name="Picture 6"/>
          <p:cNvPicPr>
            <a:picLocks noChangeAspect="1"/>
          </p:cNvPicPr>
          <p:nvPr/>
        </p:nvPicPr>
        <p:blipFill>
          <a:blip r:embed="rId3"/>
          <a:stretch>
            <a:fillRect/>
          </a:stretch>
        </p:blipFill>
        <p:spPr>
          <a:xfrm>
            <a:off x="740217" y="2068918"/>
            <a:ext cx="8304816" cy="7881450"/>
          </a:xfrm>
          <a:prstGeom prst="rect">
            <a:avLst/>
          </a:prstGeom>
        </p:spPr>
      </p:pic>
      <p:grpSp>
        <p:nvGrpSpPr>
          <p:cNvPr id="7" name="Group 7"/>
          <p:cNvGrpSpPr/>
          <p:nvPr/>
        </p:nvGrpSpPr>
        <p:grpSpPr>
          <a:xfrm>
            <a:off x="10031803" y="6352192"/>
            <a:ext cx="6823913" cy="839660"/>
            <a:chOff x="0" y="0"/>
            <a:chExt cx="1797245" cy="221145"/>
          </a:xfrm>
        </p:grpSpPr>
        <p:sp>
          <p:nvSpPr>
            <p:cNvPr id="8" name="Freeform 8"/>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txBody>
            <a:bodyPr/>
            <a:lstStyle/>
            <a:p>
              <a:endParaRPr lang="en-US"/>
            </a:p>
          </p:txBody>
        </p:sp>
        <p:sp>
          <p:nvSpPr>
            <p:cNvPr id="9" name="TextBox 9"/>
            <p:cNvSpPr txBox="1"/>
            <p:nvPr/>
          </p:nvSpPr>
          <p:spPr>
            <a:xfrm>
              <a:off x="0" y="-38100"/>
              <a:ext cx="1797245" cy="259245"/>
            </a:xfrm>
            <a:prstGeom prst="rect">
              <a:avLst/>
            </a:prstGeom>
          </p:spPr>
          <p:txBody>
            <a:bodyPr lIns="50800" tIns="50800" rIns="50800" bIns="50800" rtlCol="0" anchor="ctr"/>
            <a:lstStyle/>
            <a:p>
              <a:pPr algn="ctr">
                <a:lnSpc>
                  <a:spcPts val="2799"/>
                </a:lnSpc>
              </a:pPr>
              <a:r>
                <a:rPr lang="en-US" sz="1999">
                  <a:solidFill>
                    <a:srgbClr val="E5E1DA"/>
                  </a:solidFill>
                  <a:latin typeface="Lato"/>
                  <a:ea typeface="Lato"/>
                  <a:cs typeface="Lato"/>
                  <a:sym typeface="Lato"/>
                </a:rPr>
                <a:t>20% annual revenue growth</a:t>
              </a:r>
            </a:p>
          </p:txBody>
        </p:sp>
      </p:grpSp>
      <p:grpSp>
        <p:nvGrpSpPr>
          <p:cNvPr id="10" name="Group 10"/>
          <p:cNvGrpSpPr/>
          <p:nvPr/>
        </p:nvGrpSpPr>
        <p:grpSpPr>
          <a:xfrm>
            <a:off x="10031803" y="7385416"/>
            <a:ext cx="6823913" cy="839660"/>
            <a:chOff x="0" y="0"/>
            <a:chExt cx="1797245" cy="221145"/>
          </a:xfrm>
        </p:grpSpPr>
        <p:sp>
          <p:nvSpPr>
            <p:cNvPr id="11" name="Freeform 11"/>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FFD944"/>
            </a:solidFill>
            <a:ln w="38100" cap="rnd">
              <a:solidFill>
                <a:srgbClr val="FFD944"/>
              </a:solidFill>
              <a:prstDash val="solid"/>
              <a:round/>
            </a:ln>
          </p:spPr>
          <p:txBody>
            <a:bodyPr/>
            <a:lstStyle/>
            <a:p>
              <a:endParaRPr lang="en-US"/>
            </a:p>
          </p:txBody>
        </p:sp>
        <p:sp>
          <p:nvSpPr>
            <p:cNvPr id="12" name="TextBox 12"/>
            <p:cNvSpPr txBox="1"/>
            <p:nvPr/>
          </p:nvSpPr>
          <p:spPr>
            <a:xfrm>
              <a:off x="0" y="-38100"/>
              <a:ext cx="1797245" cy="259245"/>
            </a:xfrm>
            <a:prstGeom prst="rect">
              <a:avLst/>
            </a:prstGeom>
          </p:spPr>
          <p:txBody>
            <a:bodyPr lIns="50800" tIns="50800" rIns="50800" bIns="50800" rtlCol="0" anchor="ctr"/>
            <a:lstStyle/>
            <a:p>
              <a:pPr algn="ctr">
                <a:lnSpc>
                  <a:spcPts val="2799"/>
                </a:lnSpc>
              </a:pPr>
              <a:r>
                <a:rPr lang="en-US" sz="1999">
                  <a:solidFill>
                    <a:srgbClr val="000000"/>
                  </a:solidFill>
                  <a:latin typeface="Lato"/>
                  <a:ea typeface="Lato"/>
                  <a:cs typeface="Lato"/>
                  <a:sym typeface="Lato"/>
                </a:rPr>
                <a:t>90% maintain customer satisfaction ratings</a:t>
              </a:r>
            </a:p>
          </p:txBody>
        </p:sp>
      </p:grpSp>
      <p:grpSp>
        <p:nvGrpSpPr>
          <p:cNvPr id="13" name="Group 13"/>
          <p:cNvGrpSpPr/>
          <p:nvPr/>
        </p:nvGrpSpPr>
        <p:grpSpPr>
          <a:xfrm>
            <a:off x="10031803" y="8418640"/>
            <a:ext cx="6823913" cy="839660"/>
            <a:chOff x="0" y="0"/>
            <a:chExt cx="1797245" cy="221145"/>
          </a:xfrm>
        </p:grpSpPr>
        <p:sp>
          <p:nvSpPr>
            <p:cNvPr id="14" name="Freeform 14"/>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txBody>
            <a:bodyPr/>
            <a:lstStyle/>
            <a:p>
              <a:endParaRPr lang="en-US"/>
            </a:p>
          </p:txBody>
        </p:sp>
        <p:sp>
          <p:nvSpPr>
            <p:cNvPr id="15" name="TextBox 15"/>
            <p:cNvSpPr txBox="1"/>
            <p:nvPr/>
          </p:nvSpPr>
          <p:spPr>
            <a:xfrm>
              <a:off x="0" y="-38100"/>
              <a:ext cx="1797245" cy="259245"/>
            </a:xfrm>
            <a:prstGeom prst="rect">
              <a:avLst/>
            </a:prstGeom>
          </p:spPr>
          <p:txBody>
            <a:bodyPr lIns="50800" tIns="50800" rIns="50800" bIns="50800" rtlCol="0" anchor="ctr"/>
            <a:lstStyle/>
            <a:p>
              <a:pPr algn="ctr">
                <a:lnSpc>
                  <a:spcPts val="2799"/>
                </a:lnSpc>
              </a:pPr>
              <a:r>
                <a:rPr lang="en-US" sz="1999">
                  <a:solidFill>
                    <a:srgbClr val="E5E1DA"/>
                  </a:solidFill>
                  <a:latin typeface="Lato"/>
                  <a:ea typeface="Lato"/>
                  <a:cs typeface="Lato"/>
                  <a:sym typeface="Lato"/>
                </a:rPr>
                <a:t>15% market share in key segments</a:t>
              </a:r>
            </a:p>
          </p:txBody>
        </p:sp>
      </p:grpSp>
      <p:sp>
        <p:nvSpPr>
          <p:cNvPr id="16" name="Freeform 16"/>
          <p:cNvSpPr/>
          <p:nvPr/>
        </p:nvSpPr>
        <p:spPr>
          <a:xfrm>
            <a:off x="16608890" y="703495"/>
            <a:ext cx="650410" cy="650410"/>
          </a:xfrm>
          <a:custGeom>
            <a:avLst/>
            <a:gdLst/>
            <a:ahLst/>
            <a:cxnLst/>
            <a:rect l="l" t="t" r="r" b="b"/>
            <a:pathLst>
              <a:path w="650410" h="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7" name="Group 17"/>
          <p:cNvGrpSpPr/>
          <p:nvPr/>
        </p:nvGrpSpPr>
        <p:grpSpPr>
          <a:xfrm>
            <a:off x="1028700" y="703495"/>
            <a:ext cx="15338748" cy="650410"/>
            <a:chOff x="0" y="0"/>
            <a:chExt cx="4039835" cy="171301"/>
          </a:xfrm>
        </p:grpSpPr>
        <p:sp>
          <p:nvSpPr>
            <p:cNvPr id="18" name="Freeform 18"/>
            <p:cNvSpPr/>
            <p:nvPr/>
          </p:nvSpPr>
          <p:spPr>
            <a:xfrm>
              <a:off x="0" y="0"/>
              <a:ext cx="4039835" cy="171301"/>
            </a:xfrm>
            <a:custGeom>
              <a:avLst/>
              <a:gdLst/>
              <a:ahLst/>
              <a:cxnLst/>
              <a:rect l="l" t="t" r="r" b="b"/>
              <a:pathLst>
                <a:path w="4039835" h="171301">
                  <a:moveTo>
                    <a:pt x="30284" y="0"/>
                  </a:moveTo>
                  <a:lnTo>
                    <a:pt x="4009551" y="0"/>
                  </a:lnTo>
                  <a:cubicBezTo>
                    <a:pt x="4026276" y="0"/>
                    <a:pt x="4039835" y="13559"/>
                    <a:pt x="4039835" y="30284"/>
                  </a:cubicBezTo>
                  <a:lnTo>
                    <a:pt x="4039835" y="141018"/>
                  </a:lnTo>
                  <a:cubicBezTo>
                    <a:pt x="4039835" y="157743"/>
                    <a:pt x="4026276" y="171301"/>
                    <a:pt x="4009551" y="171301"/>
                  </a:cubicBezTo>
                  <a:lnTo>
                    <a:pt x="30284" y="171301"/>
                  </a:lnTo>
                  <a:cubicBezTo>
                    <a:pt x="13559" y="171301"/>
                    <a:pt x="0" y="157743"/>
                    <a:pt x="0" y="141018"/>
                  </a:cubicBezTo>
                  <a:lnTo>
                    <a:pt x="0" y="30284"/>
                  </a:lnTo>
                  <a:cubicBezTo>
                    <a:pt x="0" y="13559"/>
                    <a:pt x="13559" y="0"/>
                    <a:pt x="30284" y="0"/>
                  </a:cubicBezTo>
                  <a:close/>
                </a:path>
              </a:pathLst>
            </a:custGeom>
            <a:solidFill>
              <a:srgbClr val="000000">
                <a:alpha val="0"/>
              </a:srgbClr>
            </a:solidFill>
            <a:ln w="38100" cap="rnd">
              <a:solidFill>
                <a:srgbClr val="FBF9F1"/>
              </a:solidFill>
              <a:prstDash val="solid"/>
              <a:round/>
            </a:ln>
          </p:spPr>
          <p:txBody>
            <a:bodyPr/>
            <a:lstStyle/>
            <a:p>
              <a:endParaRPr lang="en-US"/>
            </a:p>
          </p:txBody>
        </p:sp>
        <p:sp>
          <p:nvSpPr>
            <p:cNvPr id="19" name="TextBox 19"/>
            <p:cNvSpPr txBox="1"/>
            <p:nvPr/>
          </p:nvSpPr>
          <p:spPr>
            <a:xfrm>
              <a:off x="0" y="-38100"/>
              <a:ext cx="4039835" cy="209401"/>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a:off x="10817513" y="-3911527"/>
            <a:ext cx="7470487" cy="5397427"/>
          </a:xfrm>
          <a:custGeom>
            <a:avLst/>
            <a:gdLst/>
            <a:ahLst/>
            <a:cxnLst/>
            <a:rect l="l" t="t" r="r" b="b"/>
            <a:pathLst>
              <a:path w="7470487" h="5397427">
                <a:moveTo>
                  <a:pt x="0" y="0"/>
                </a:moveTo>
                <a:lnTo>
                  <a:pt x="7470487" y="0"/>
                </a:lnTo>
                <a:lnTo>
                  <a:pt x="7470487" y="5397427"/>
                </a:lnTo>
                <a:lnTo>
                  <a:pt x="0" y="5397427"/>
                </a:lnTo>
                <a:lnTo>
                  <a:pt x="0" y="0"/>
                </a:lnTo>
                <a:close/>
              </a:path>
            </a:pathLst>
          </a:custGeom>
          <a:blipFill>
            <a:blip r:embed="rId2"/>
            <a:stretch>
              <a:fillRect/>
            </a:stretch>
          </a:blipFill>
        </p:spPr>
        <p:txBody>
          <a:bodyPr/>
          <a:lstStyle/>
          <a:p>
            <a:endParaRPr lang="en-US"/>
          </a:p>
        </p:txBody>
      </p:sp>
      <p:sp>
        <p:nvSpPr>
          <p:cNvPr id="3" name="Freeform 3"/>
          <p:cNvSpPr/>
          <p:nvPr/>
        </p:nvSpPr>
        <p:spPr>
          <a:xfrm rot="-10800000">
            <a:off x="-8131585" y="653219"/>
            <a:ext cx="13745171" cy="10034901"/>
          </a:xfrm>
          <a:custGeom>
            <a:avLst/>
            <a:gdLst/>
            <a:ahLst/>
            <a:cxnLst/>
            <a:rect l="l" t="t" r="r" b="b"/>
            <a:pathLst>
              <a:path w="13745171" h="10034901">
                <a:moveTo>
                  <a:pt x="0" y="0"/>
                </a:moveTo>
                <a:lnTo>
                  <a:pt x="13745171" y="0"/>
                </a:lnTo>
                <a:lnTo>
                  <a:pt x="13745171" y="10034901"/>
                </a:lnTo>
                <a:lnTo>
                  <a:pt x="0" y="10034901"/>
                </a:lnTo>
                <a:lnTo>
                  <a:pt x="0" y="0"/>
                </a:lnTo>
                <a:close/>
              </a:path>
            </a:pathLst>
          </a:custGeom>
          <a:blipFill>
            <a:blip r:embed="rId2"/>
            <a:stretch>
              <a:fillRect l="-523" r="-523"/>
            </a:stretch>
          </a:blipFill>
        </p:spPr>
        <p:txBody>
          <a:bodyPr/>
          <a:lstStyle/>
          <a:p>
            <a:endParaRPr lang="en-US"/>
          </a:p>
        </p:txBody>
      </p:sp>
      <p:sp>
        <p:nvSpPr>
          <p:cNvPr id="4" name="TextBox 4"/>
          <p:cNvSpPr txBox="1"/>
          <p:nvPr/>
        </p:nvSpPr>
        <p:spPr>
          <a:xfrm>
            <a:off x="8128737" y="1895475"/>
            <a:ext cx="9247901" cy="2725420"/>
          </a:xfrm>
          <a:prstGeom prst="rect">
            <a:avLst/>
          </a:prstGeom>
        </p:spPr>
        <p:txBody>
          <a:bodyPr lIns="0" tIns="0" rIns="0" bIns="0" rtlCol="0" anchor="t">
            <a:spAutoFit/>
          </a:bodyPr>
          <a:lstStyle/>
          <a:p>
            <a:pPr algn="l">
              <a:lnSpc>
                <a:spcPts val="3079"/>
              </a:lnSpc>
              <a:spcBef>
                <a:spcPct val="0"/>
              </a:spcBef>
            </a:pPr>
            <a:r>
              <a:rPr lang="en-US" sz="2199">
                <a:solidFill>
                  <a:srgbClr val="E5E1DA"/>
                </a:solidFill>
                <a:latin typeface="Lato"/>
                <a:ea typeface="Lato"/>
                <a:cs typeface="Lato"/>
                <a:sym typeface="Lato"/>
              </a:rPr>
              <a:t>Our plan for using funds generated from investors is straightforward. We'll allocate 40% towards further developing our products, ensuring they stay competitive and meet customer needs. 30% will go into marketing and sales efforts to attract new customers and drive revenue growth. 20% will be invested in infrastructure and operations to support our expanding business and improve efficiency. Finally, 10% will be set aside for strategic initiatives like market expansion and partnerships to fuel long-term growth.</a:t>
            </a:r>
          </a:p>
        </p:txBody>
      </p:sp>
      <p:sp>
        <p:nvSpPr>
          <p:cNvPr id="5" name="TextBox 5"/>
          <p:cNvSpPr txBox="1"/>
          <p:nvPr/>
        </p:nvSpPr>
        <p:spPr>
          <a:xfrm>
            <a:off x="1281884" y="1476375"/>
            <a:ext cx="6018468" cy="9239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DISCUSSION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2271414" y="1920068"/>
            <a:ext cx="13745171" cy="10034901"/>
          </a:xfrm>
          <a:custGeom>
            <a:avLst/>
            <a:gdLst/>
            <a:ahLst/>
            <a:cxnLst/>
            <a:rect l="l" t="t" r="r" b="b"/>
            <a:pathLst>
              <a:path w="13745171" h="10034901">
                <a:moveTo>
                  <a:pt x="0" y="0"/>
                </a:moveTo>
                <a:lnTo>
                  <a:pt x="13745172" y="0"/>
                </a:lnTo>
                <a:lnTo>
                  <a:pt x="13745172" y="10034901"/>
                </a:lnTo>
                <a:lnTo>
                  <a:pt x="0" y="10034901"/>
                </a:lnTo>
                <a:lnTo>
                  <a:pt x="0" y="0"/>
                </a:lnTo>
                <a:close/>
              </a:path>
            </a:pathLst>
          </a:custGeom>
          <a:blipFill>
            <a:blip r:embed="rId2"/>
            <a:stretch>
              <a:fillRect l="-523" r="-523"/>
            </a:stretch>
          </a:blipFill>
        </p:spPr>
        <p:txBody>
          <a:bodyPr/>
          <a:lstStyle/>
          <a:p>
            <a:endParaRPr lang="en-US"/>
          </a:p>
        </p:txBody>
      </p:sp>
      <p:grpSp>
        <p:nvGrpSpPr>
          <p:cNvPr id="3" name="Group 3"/>
          <p:cNvGrpSpPr/>
          <p:nvPr/>
        </p:nvGrpSpPr>
        <p:grpSpPr>
          <a:xfrm>
            <a:off x="1830997" y="2456061"/>
            <a:ext cx="6823913" cy="839660"/>
            <a:chOff x="0" y="0"/>
            <a:chExt cx="1797245" cy="221145"/>
          </a:xfrm>
        </p:grpSpPr>
        <p:sp>
          <p:nvSpPr>
            <p:cNvPr id="4" name="Freeform 4"/>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txBody>
            <a:bodyPr/>
            <a:lstStyle/>
            <a:p>
              <a:endParaRPr lang="en-US"/>
            </a:p>
          </p:txBody>
        </p:sp>
        <p:sp>
          <p:nvSpPr>
            <p:cNvPr id="5" name="TextBox 5"/>
            <p:cNvSpPr txBox="1"/>
            <p:nvPr/>
          </p:nvSpPr>
          <p:spPr>
            <a:xfrm>
              <a:off x="0" y="-38100"/>
              <a:ext cx="1797245" cy="2592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830997" y="3489505"/>
            <a:ext cx="6823913" cy="2112056"/>
            <a:chOff x="0" y="0"/>
            <a:chExt cx="1797245" cy="556262"/>
          </a:xfrm>
        </p:grpSpPr>
        <p:sp>
          <p:nvSpPr>
            <p:cNvPr id="7" name="Freeform 7"/>
            <p:cNvSpPr/>
            <p:nvPr/>
          </p:nvSpPr>
          <p:spPr>
            <a:xfrm>
              <a:off x="0" y="0"/>
              <a:ext cx="1797245" cy="556262"/>
            </a:xfrm>
            <a:custGeom>
              <a:avLst/>
              <a:gdLst/>
              <a:ahLst/>
              <a:cxnLst/>
              <a:rect l="l" t="t" r="r" b="b"/>
              <a:pathLst>
                <a:path w="1797245" h="556262">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txBody>
            <a:bodyPr/>
            <a:lstStyle/>
            <a:p>
              <a:endParaRPr lang="en-US"/>
            </a:p>
          </p:txBody>
        </p:sp>
        <p:sp>
          <p:nvSpPr>
            <p:cNvPr id="8" name="TextBox 8"/>
            <p:cNvSpPr txBox="1"/>
            <p:nvPr/>
          </p:nvSpPr>
          <p:spPr>
            <a:xfrm>
              <a:off x="0" y="-38100"/>
              <a:ext cx="1797245" cy="594362"/>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7950446" y="2645563"/>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3"/>
            <a:stretch>
              <a:fillRect/>
            </a:stretch>
          </a:blipFill>
        </p:spPr>
        <p:txBody>
          <a:bodyPr/>
          <a:lstStyle/>
          <a:p>
            <a:endParaRPr lang="en-US"/>
          </a:p>
        </p:txBody>
      </p:sp>
      <p:grpSp>
        <p:nvGrpSpPr>
          <p:cNvPr id="10" name="Group 10"/>
          <p:cNvGrpSpPr/>
          <p:nvPr/>
        </p:nvGrpSpPr>
        <p:grpSpPr>
          <a:xfrm>
            <a:off x="9633090" y="2456061"/>
            <a:ext cx="6823913" cy="839660"/>
            <a:chOff x="0" y="0"/>
            <a:chExt cx="1797245" cy="221145"/>
          </a:xfrm>
        </p:grpSpPr>
        <p:sp>
          <p:nvSpPr>
            <p:cNvPr id="11" name="Freeform 11"/>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FD944"/>
              </a:solidFill>
              <a:prstDash val="solid"/>
              <a:round/>
            </a:ln>
          </p:spPr>
          <p:txBody>
            <a:bodyPr/>
            <a:lstStyle/>
            <a:p>
              <a:endParaRPr lang="en-US"/>
            </a:p>
          </p:txBody>
        </p:sp>
        <p:sp>
          <p:nvSpPr>
            <p:cNvPr id="12" name="TextBox 12"/>
            <p:cNvSpPr txBox="1"/>
            <p:nvPr/>
          </p:nvSpPr>
          <p:spPr>
            <a:xfrm>
              <a:off x="0" y="-38100"/>
              <a:ext cx="1797245" cy="25924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633090" y="3489505"/>
            <a:ext cx="6823913" cy="2112056"/>
            <a:chOff x="0" y="0"/>
            <a:chExt cx="1797245" cy="556262"/>
          </a:xfrm>
        </p:grpSpPr>
        <p:sp>
          <p:nvSpPr>
            <p:cNvPr id="14" name="Freeform 14"/>
            <p:cNvSpPr/>
            <p:nvPr/>
          </p:nvSpPr>
          <p:spPr>
            <a:xfrm>
              <a:off x="0" y="0"/>
              <a:ext cx="1797245" cy="556262"/>
            </a:xfrm>
            <a:custGeom>
              <a:avLst/>
              <a:gdLst/>
              <a:ahLst/>
              <a:cxnLst/>
              <a:rect l="l" t="t" r="r" b="b"/>
              <a:pathLst>
                <a:path w="1797245" h="556262">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FD944"/>
            </a:solidFill>
            <a:ln w="38100" cap="sq">
              <a:solidFill>
                <a:srgbClr val="FFD944"/>
              </a:solidFill>
              <a:prstDash val="solid"/>
              <a:miter/>
            </a:ln>
          </p:spPr>
          <p:txBody>
            <a:bodyPr/>
            <a:lstStyle/>
            <a:p>
              <a:endParaRPr lang="en-US"/>
            </a:p>
          </p:txBody>
        </p:sp>
        <p:sp>
          <p:nvSpPr>
            <p:cNvPr id="15" name="TextBox 15"/>
            <p:cNvSpPr txBox="1"/>
            <p:nvPr/>
          </p:nvSpPr>
          <p:spPr>
            <a:xfrm>
              <a:off x="0" y="-38100"/>
              <a:ext cx="1797245" cy="594362"/>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830997" y="6287361"/>
            <a:ext cx="6823913" cy="839660"/>
            <a:chOff x="0" y="0"/>
            <a:chExt cx="1797245" cy="221145"/>
          </a:xfrm>
        </p:grpSpPr>
        <p:sp>
          <p:nvSpPr>
            <p:cNvPr id="17" name="Freeform 17"/>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txBody>
            <a:bodyPr/>
            <a:lstStyle/>
            <a:p>
              <a:endParaRPr lang="en-US"/>
            </a:p>
          </p:txBody>
        </p:sp>
        <p:sp>
          <p:nvSpPr>
            <p:cNvPr id="18" name="TextBox 18"/>
            <p:cNvSpPr txBox="1"/>
            <p:nvPr/>
          </p:nvSpPr>
          <p:spPr>
            <a:xfrm>
              <a:off x="0" y="-38100"/>
              <a:ext cx="1797245" cy="25924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830997" y="7320805"/>
            <a:ext cx="6823913" cy="2112056"/>
            <a:chOff x="0" y="0"/>
            <a:chExt cx="1797245" cy="556262"/>
          </a:xfrm>
        </p:grpSpPr>
        <p:sp>
          <p:nvSpPr>
            <p:cNvPr id="20" name="Freeform 20"/>
            <p:cNvSpPr/>
            <p:nvPr/>
          </p:nvSpPr>
          <p:spPr>
            <a:xfrm>
              <a:off x="0" y="0"/>
              <a:ext cx="1797245" cy="556262"/>
            </a:xfrm>
            <a:custGeom>
              <a:avLst/>
              <a:gdLst/>
              <a:ahLst/>
              <a:cxnLst/>
              <a:rect l="l" t="t" r="r" b="b"/>
              <a:pathLst>
                <a:path w="1797245" h="556262">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txBody>
            <a:bodyPr/>
            <a:lstStyle/>
            <a:p>
              <a:endParaRPr lang="en-US"/>
            </a:p>
          </p:txBody>
        </p:sp>
        <p:sp>
          <p:nvSpPr>
            <p:cNvPr id="21" name="TextBox 21"/>
            <p:cNvSpPr txBox="1"/>
            <p:nvPr/>
          </p:nvSpPr>
          <p:spPr>
            <a:xfrm>
              <a:off x="0" y="-38100"/>
              <a:ext cx="1797245" cy="594362"/>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7950446" y="6476864"/>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3"/>
            <a:stretch>
              <a:fillRect/>
            </a:stretch>
          </a:blipFill>
        </p:spPr>
        <p:txBody>
          <a:bodyPr/>
          <a:lstStyle/>
          <a:p>
            <a:endParaRPr lang="en-US"/>
          </a:p>
        </p:txBody>
      </p:sp>
      <p:grpSp>
        <p:nvGrpSpPr>
          <p:cNvPr id="23" name="Group 23"/>
          <p:cNvGrpSpPr/>
          <p:nvPr/>
        </p:nvGrpSpPr>
        <p:grpSpPr>
          <a:xfrm>
            <a:off x="9633090" y="6287361"/>
            <a:ext cx="6823913" cy="839660"/>
            <a:chOff x="0" y="0"/>
            <a:chExt cx="1797245" cy="221145"/>
          </a:xfrm>
        </p:grpSpPr>
        <p:sp>
          <p:nvSpPr>
            <p:cNvPr id="24" name="Freeform 24"/>
            <p:cNvSpPr/>
            <p:nvPr/>
          </p:nvSpPr>
          <p:spPr>
            <a:xfrm>
              <a:off x="0" y="0"/>
              <a:ext cx="1797245" cy="221145"/>
            </a:xfrm>
            <a:custGeom>
              <a:avLst/>
              <a:gdLst/>
              <a:ahLst/>
              <a:cxnLst/>
              <a:rect l="l" t="t" r="r" b="b"/>
              <a:pathLst>
                <a:path w="1797245" h="2211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txBody>
            <a:bodyPr/>
            <a:lstStyle/>
            <a:p>
              <a:endParaRPr lang="en-US"/>
            </a:p>
          </p:txBody>
        </p:sp>
        <p:sp>
          <p:nvSpPr>
            <p:cNvPr id="25" name="TextBox 25"/>
            <p:cNvSpPr txBox="1"/>
            <p:nvPr/>
          </p:nvSpPr>
          <p:spPr>
            <a:xfrm>
              <a:off x="0" y="-38100"/>
              <a:ext cx="1797245" cy="259245"/>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9633090" y="7320805"/>
            <a:ext cx="6823913" cy="2112056"/>
            <a:chOff x="0" y="0"/>
            <a:chExt cx="1797245" cy="556262"/>
          </a:xfrm>
        </p:grpSpPr>
        <p:sp>
          <p:nvSpPr>
            <p:cNvPr id="27" name="Freeform 27"/>
            <p:cNvSpPr/>
            <p:nvPr/>
          </p:nvSpPr>
          <p:spPr>
            <a:xfrm>
              <a:off x="0" y="0"/>
              <a:ext cx="1797245" cy="556262"/>
            </a:xfrm>
            <a:custGeom>
              <a:avLst/>
              <a:gdLst/>
              <a:ahLst/>
              <a:cxnLst/>
              <a:rect l="l" t="t" r="r" b="b"/>
              <a:pathLst>
                <a:path w="1797245" h="556262">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txBody>
            <a:bodyPr/>
            <a:lstStyle/>
            <a:p>
              <a:endParaRPr lang="en-US"/>
            </a:p>
          </p:txBody>
        </p:sp>
        <p:sp>
          <p:nvSpPr>
            <p:cNvPr id="28" name="TextBox 28"/>
            <p:cNvSpPr txBox="1"/>
            <p:nvPr/>
          </p:nvSpPr>
          <p:spPr>
            <a:xfrm>
              <a:off x="0" y="-38100"/>
              <a:ext cx="1797245" cy="594362"/>
            </a:xfrm>
            <a:prstGeom prst="rect">
              <a:avLst/>
            </a:prstGeom>
          </p:spPr>
          <p:txBody>
            <a:bodyPr lIns="50800" tIns="50800" rIns="50800" bIns="50800" rtlCol="0" anchor="ctr"/>
            <a:lstStyle/>
            <a:p>
              <a:pPr algn="ctr">
                <a:lnSpc>
                  <a:spcPts val="2659"/>
                </a:lnSpc>
              </a:pPr>
              <a:endParaRPr/>
            </a:p>
          </p:txBody>
        </p:sp>
      </p:grpSp>
      <p:sp>
        <p:nvSpPr>
          <p:cNvPr id="29" name="Freeform 29"/>
          <p:cNvSpPr/>
          <p:nvPr/>
        </p:nvSpPr>
        <p:spPr>
          <a:xfrm>
            <a:off x="15753800" y="6476864"/>
            <a:ext cx="457200" cy="460655"/>
          </a:xfrm>
          <a:custGeom>
            <a:avLst/>
            <a:gdLst/>
            <a:ahLst/>
            <a:cxnLst/>
            <a:rect l="l" t="t" r="r" b="b"/>
            <a:pathLst>
              <a:path w="457200" h="460655">
                <a:moveTo>
                  <a:pt x="0" y="0"/>
                </a:moveTo>
                <a:lnTo>
                  <a:pt x="457200" y="0"/>
                </a:lnTo>
                <a:lnTo>
                  <a:pt x="457200" y="460655"/>
                </a:lnTo>
                <a:lnTo>
                  <a:pt x="0" y="460655"/>
                </a:lnTo>
                <a:lnTo>
                  <a:pt x="0" y="0"/>
                </a:lnTo>
                <a:close/>
              </a:path>
            </a:pathLst>
          </a:custGeom>
          <a:blipFill>
            <a:blip r:embed="rId3"/>
            <a:stretch>
              <a:fillRect/>
            </a:stretch>
          </a:blipFill>
        </p:spPr>
        <p:txBody>
          <a:bodyPr/>
          <a:lstStyle/>
          <a:p>
            <a:endParaRPr lang="en-US"/>
          </a:p>
        </p:txBody>
      </p:sp>
      <p:sp>
        <p:nvSpPr>
          <p:cNvPr id="30" name="Freeform 30"/>
          <p:cNvSpPr/>
          <p:nvPr/>
        </p:nvSpPr>
        <p:spPr>
          <a:xfrm>
            <a:off x="15764658" y="2647291"/>
            <a:ext cx="446341" cy="457200"/>
          </a:xfrm>
          <a:custGeom>
            <a:avLst/>
            <a:gdLst/>
            <a:ahLst/>
            <a:cxnLst/>
            <a:rect l="l" t="t" r="r" b="b"/>
            <a:pathLst>
              <a:path w="446341" h="457200">
                <a:moveTo>
                  <a:pt x="0" y="0"/>
                </a:moveTo>
                <a:lnTo>
                  <a:pt x="446342" y="0"/>
                </a:lnTo>
                <a:lnTo>
                  <a:pt x="446342" y="457200"/>
                </a:lnTo>
                <a:lnTo>
                  <a:pt x="0" y="457200"/>
                </a:lnTo>
                <a:lnTo>
                  <a:pt x="0" y="0"/>
                </a:lnTo>
                <a:close/>
              </a:path>
            </a:pathLst>
          </a:custGeom>
          <a:blipFill>
            <a:blip r:embed="rId4"/>
            <a:stretch>
              <a:fillRect/>
            </a:stretch>
          </a:blipFill>
        </p:spPr>
        <p:txBody>
          <a:bodyPr/>
          <a:lstStyle/>
          <a:p>
            <a:endParaRPr lang="en-US"/>
          </a:p>
        </p:txBody>
      </p:sp>
      <p:sp>
        <p:nvSpPr>
          <p:cNvPr id="31" name="TextBox 31"/>
          <p:cNvSpPr txBox="1"/>
          <p:nvPr/>
        </p:nvSpPr>
        <p:spPr>
          <a:xfrm>
            <a:off x="2306861" y="2631416"/>
            <a:ext cx="3854146" cy="431800"/>
          </a:xfrm>
          <a:prstGeom prst="rect">
            <a:avLst/>
          </a:prstGeom>
        </p:spPr>
        <p:txBody>
          <a:bodyPr lIns="0" tIns="0" rIns="0" bIns="0" rtlCol="0" anchor="t">
            <a:spAutoFit/>
          </a:bodyPr>
          <a:lstStyle/>
          <a:p>
            <a:pPr algn="l">
              <a:lnSpc>
                <a:spcPts val="3500"/>
              </a:lnSpc>
              <a:spcBef>
                <a:spcPct val="0"/>
              </a:spcBef>
            </a:pPr>
            <a:r>
              <a:rPr lang="en-US" sz="2500" b="1">
                <a:solidFill>
                  <a:srgbClr val="FBF9F1"/>
                </a:solidFill>
                <a:latin typeface="Lato Bold"/>
                <a:ea typeface="Lato Bold"/>
                <a:cs typeface="Lato Bold"/>
                <a:sym typeface="Lato Bold"/>
              </a:rPr>
              <a:t>BRAND BUILDING</a:t>
            </a:r>
          </a:p>
        </p:txBody>
      </p:sp>
      <p:sp>
        <p:nvSpPr>
          <p:cNvPr id="32" name="TextBox 32"/>
          <p:cNvSpPr txBox="1"/>
          <p:nvPr/>
        </p:nvSpPr>
        <p:spPr>
          <a:xfrm>
            <a:off x="2306861" y="3940061"/>
            <a:ext cx="5872185" cy="1163320"/>
          </a:xfrm>
          <a:prstGeom prst="rect">
            <a:avLst/>
          </a:prstGeom>
        </p:spPr>
        <p:txBody>
          <a:bodyPr lIns="0" tIns="0" rIns="0" bIns="0" rtlCol="0" anchor="t">
            <a:spAutoFit/>
          </a:bodyPr>
          <a:lstStyle/>
          <a:p>
            <a:pPr algn="l">
              <a:lnSpc>
                <a:spcPts val="3079"/>
              </a:lnSpc>
              <a:spcBef>
                <a:spcPct val="0"/>
              </a:spcBef>
            </a:pPr>
            <a:r>
              <a:rPr lang="en-US" sz="2199">
                <a:solidFill>
                  <a:srgbClr val="000000"/>
                </a:solidFill>
                <a:latin typeface="Lato"/>
                <a:ea typeface="Lato"/>
                <a:cs typeface="Lato"/>
                <a:sym typeface="Lato"/>
              </a:rPr>
              <a:t>We create a strong brand identity, including logos and design elements, to help startups stand out and gain trust.</a:t>
            </a:r>
          </a:p>
        </p:txBody>
      </p:sp>
      <p:sp>
        <p:nvSpPr>
          <p:cNvPr id="33" name="TextBox 33"/>
          <p:cNvSpPr txBox="1"/>
          <p:nvPr/>
        </p:nvSpPr>
        <p:spPr>
          <a:xfrm>
            <a:off x="4525413" y="732618"/>
            <a:ext cx="9237174" cy="758825"/>
          </a:xfrm>
          <a:prstGeom prst="rect">
            <a:avLst/>
          </a:prstGeom>
        </p:spPr>
        <p:txBody>
          <a:bodyPr lIns="0" tIns="0" rIns="0" bIns="0" rtlCol="0" anchor="t">
            <a:spAutoFit/>
          </a:bodyPr>
          <a:lstStyle/>
          <a:p>
            <a:pPr algn="ctr">
              <a:lnSpc>
                <a:spcPts val="5500"/>
              </a:lnSpc>
            </a:pPr>
            <a:r>
              <a:rPr lang="en-US" sz="5000" b="1">
                <a:solidFill>
                  <a:srgbClr val="FBF9F1"/>
                </a:solidFill>
                <a:latin typeface="Poppins Bold"/>
                <a:ea typeface="Poppins Bold"/>
                <a:cs typeface="Poppins Bold"/>
                <a:sym typeface="Poppins Bold"/>
              </a:rPr>
              <a:t>DISCOVER OUR SERVICES</a:t>
            </a:r>
          </a:p>
        </p:txBody>
      </p:sp>
      <p:sp>
        <p:nvSpPr>
          <p:cNvPr id="34" name="TextBox 34"/>
          <p:cNvSpPr txBox="1"/>
          <p:nvPr/>
        </p:nvSpPr>
        <p:spPr>
          <a:xfrm>
            <a:off x="10108954" y="2631416"/>
            <a:ext cx="3854146" cy="431800"/>
          </a:xfrm>
          <a:prstGeom prst="rect">
            <a:avLst/>
          </a:prstGeom>
        </p:spPr>
        <p:txBody>
          <a:bodyPr lIns="0" tIns="0" rIns="0" bIns="0" rtlCol="0" anchor="t">
            <a:spAutoFit/>
          </a:bodyPr>
          <a:lstStyle/>
          <a:p>
            <a:pPr algn="l">
              <a:lnSpc>
                <a:spcPts val="3500"/>
              </a:lnSpc>
              <a:spcBef>
                <a:spcPct val="0"/>
              </a:spcBef>
            </a:pPr>
            <a:r>
              <a:rPr lang="en-US" sz="2500" b="1">
                <a:solidFill>
                  <a:srgbClr val="FFD944"/>
                </a:solidFill>
                <a:latin typeface="Lato Bold"/>
                <a:ea typeface="Lato Bold"/>
                <a:cs typeface="Lato Bold"/>
                <a:sym typeface="Lato Bold"/>
              </a:rPr>
              <a:t>DIGITAL MARKETING</a:t>
            </a:r>
          </a:p>
        </p:txBody>
      </p:sp>
      <p:sp>
        <p:nvSpPr>
          <p:cNvPr id="35" name="TextBox 35"/>
          <p:cNvSpPr txBox="1"/>
          <p:nvPr/>
        </p:nvSpPr>
        <p:spPr>
          <a:xfrm>
            <a:off x="10108954" y="3940061"/>
            <a:ext cx="5872185" cy="1163320"/>
          </a:xfrm>
          <a:prstGeom prst="rect">
            <a:avLst/>
          </a:prstGeom>
        </p:spPr>
        <p:txBody>
          <a:bodyPr lIns="0" tIns="0" rIns="0" bIns="0" rtlCol="0" anchor="t">
            <a:spAutoFit/>
          </a:bodyPr>
          <a:lstStyle/>
          <a:p>
            <a:pPr algn="l">
              <a:lnSpc>
                <a:spcPts val="3079"/>
              </a:lnSpc>
              <a:spcBef>
                <a:spcPct val="0"/>
              </a:spcBef>
            </a:pPr>
            <a:r>
              <a:rPr lang="en-US" sz="2199">
                <a:solidFill>
                  <a:srgbClr val="000000"/>
                </a:solidFill>
                <a:latin typeface="Lato"/>
                <a:ea typeface="Lato"/>
                <a:cs typeface="Lato"/>
                <a:sym typeface="Lato"/>
              </a:rPr>
              <a:t>We develop effective online marketing strategies using channels like social media, email, and ads to reach potential customers.</a:t>
            </a:r>
          </a:p>
        </p:txBody>
      </p:sp>
      <p:sp>
        <p:nvSpPr>
          <p:cNvPr id="36" name="TextBox 36"/>
          <p:cNvSpPr txBox="1"/>
          <p:nvPr/>
        </p:nvSpPr>
        <p:spPr>
          <a:xfrm>
            <a:off x="2306861" y="6462716"/>
            <a:ext cx="3854146" cy="431800"/>
          </a:xfrm>
          <a:prstGeom prst="rect">
            <a:avLst/>
          </a:prstGeom>
        </p:spPr>
        <p:txBody>
          <a:bodyPr lIns="0" tIns="0" rIns="0" bIns="0" rtlCol="0" anchor="t">
            <a:spAutoFit/>
          </a:bodyPr>
          <a:lstStyle/>
          <a:p>
            <a:pPr algn="l">
              <a:lnSpc>
                <a:spcPts val="3500"/>
              </a:lnSpc>
              <a:spcBef>
                <a:spcPct val="0"/>
              </a:spcBef>
            </a:pPr>
            <a:r>
              <a:rPr lang="en-US" sz="2500" b="1">
                <a:solidFill>
                  <a:srgbClr val="FBF9F1"/>
                </a:solidFill>
                <a:latin typeface="Lato Bold"/>
                <a:ea typeface="Lato Bold"/>
                <a:cs typeface="Lato Bold"/>
                <a:sym typeface="Lato Bold"/>
              </a:rPr>
              <a:t>MARKETING ANALYTICS</a:t>
            </a:r>
          </a:p>
        </p:txBody>
      </p:sp>
      <p:sp>
        <p:nvSpPr>
          <p:cNvPr id="37" name="TextBox 37"/>
          <p:cNvSpPr txBox="1"/>
          <p:nvPr/>
        </p:nvSpPr>
        <p:spPr>
          <a:xfrm>
            <a:off x="2306861" y="7771361"/>
            <a:ext cx="5872185" cy="1163320"/>
          </a:xfrm>
          <a:prstGeom prst="rect">
            <a:avLst/>
          </a:prstGeom>
        </p:spPr>
        <p:txBody>
          <a:bodyPr lIns="0" tIns="0" rIns="0" bIns="0" rtlCol="0" anchor="t">
            <a:spAutoFit/>
          </a:bodyPr>
          <a:lstStyle/>
          <a:p>
            <a:pPr algn="l">
              <a:lnSpc>
                <a:spcPts val="3079"/>
              </a:lnSpc>
              <a:spcBef>
                <a:spcPct val="0"/>
              </a:spcBef>
            </a:pPr>
            <a:r>
              <a:rPr lang="en-US" sz="2199">
                <a:solidFill>
                  <a:srgbClr val="000000"/>
                </a:solidFill>
                <a:latin typeface="Lato"/>
                <a:ea typeface="Lato"/>
                <a:cs typeface="Lato"/>
                <a:sym typeface="Lato"/>
              </a:rPr>
              <a:t>We provide insights and reports on marketing performance to help startups make informed decisions.</a:t>
            </a:r>
          </a:p>
        </p:txBody>
      </p:sp>
      <p:sp>
        <p:nvSpPr>
          <p:cNvPr id="38" name="TextBox 38"/>
          <p:cNvSpPr txBox="1"/>
          <p:nvPr/>
        </p:nvSpPr>
        <p:spPr>
          <a:xfrm>
            <a:off x="10108954" y="6462716"/>
            <a:ext cx="3854146" cy="431800"/>
          </a:xfrm>
          <a:prstGeom prst="rect">
            <a:avLst/>
          </a:prstGeom>
        </p:spPr>
        <p:txBody>
          <a:bodyPr lIns="0" tIns="0" rIns="0" bIns="0" rtlCol="0" anchor="t">
            <a:spAutoFit/>
          </a:bodyPr>
          <a:lstStyle/>
          <a:p>
            <a:pPr algn="l">
              <a:lnSpc>
                <a:spcPts val="3500"/>
              </a:lnSpc>
              <a:spcBef>
                <a:spcPct val="0"/>
              </a:spcBef>
            </a:pPr>
            <a:r>
              <a:rPr lang="en-US" sz="2500" b="1">
                <a:solidFill>
                  <a:srgbClr val="FBF9F1"/>
                </a:solidFill>
                <a:latin typeface="Lato Bold"/>
                <a:ea typeface="Lato Bold"/>
                <a:cs typeface="Lato Bold"/>
                <a:sym typeface="Lato Bold"/>
              </a:rPr>
              <a:t>PR SUPPORT</a:t>
            </a:r>
          </a:p>
        </p:txBody>
      </p:sp>
      <p:sp>
        <p:nvSpPr>
          <p:cNvPr id="39" name="TextBox 39"/>
          <p:cNvSpPr txBox="1"/>
          <p:nvPr/>
        </p:nvSpPr>
        <p:spPr>
          <a:xfrm>
            <a:off x="10108954" y="7771361"/>
            <a:ext cx="5872185" cy="1163320"/>
          </a:xfrm>
          <a:prstGeom prst="rect">
            <a:avLst/>
          </a:prstGeom>
        </p:spPr>
        <p:txBody>
          <a:bodyPr lIns="0" tIns="0" rIns="0" bIns="0" rtlCol="0" anchor="t">
            <a:spAutoFit/>
          </a:bodyPr>
          <a:lstStyle/>
          <a:p>
            <a:pPr algn="l">
              <a:lnSpc>
                <a:spcPts val="3079"/>
              </a:lnSpc>
              <a:spcBef>
                <a:spcPct val="0"/>
              </a:spcBef>
            </a:pPr>
            <a:r>
              <a:rPr lang="en-US" sz="2199">
                <a:solidFill>
                  <a:srgbClr val="000000"/>
                </a:solidFill>
                <a:latin typeface="Lato"/>
                <a:ea typeface="Lato"/>
                <a:cs typeface="Lato"/>
                <a:sym typeface="Lato"/>
              </a:rPr>
              <a:t>We help startups get media coverage and build relationships with relevant journalists and influencers.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181579">
            <a:off x="11387879" y="806668"/>
            <a:ext cx="10128448" cy="10895890"/>
          </a:xfrm>
          <a:custGeom>
            <a:avLst/>
            <a:gdLst/>
            <a:ahLst/>
            <a:cxnLst/>
            <a:rect l="l" t="t" r="r" b="b"/>
            <a:pathLst>
              <a:path w="10128448" h="10895890">
                <a:moveTo>
                  <a:pt x="0" y="0"/>
                </a:moveTo>
                <a:lnTo>
                  <a:pt x="10128447" y="0"/>
                </a:lnTo>
                <a:lnTo>
                  <a:pt x="10128447" y="10895890"/>
                </a:lnTo>
                <a:lnTo>
                  <a:pt x="0" y="10895890"/>
                </a:lnTo>
                <a:lnTo>
                  <a:pt x="0" y="0"/>
                </a:lnTo>
                <a:close/>
              </a:path>
            </a:pathLst>
          </a:custGeom>
          <a:blipFill>
            <a:blip r:embed="rId2"/>
            <a:stretch>
              <a:fillRect l="-157" r="-157"/>
            </a:stretch>
          </a:blipFill>
        </p:spPr>
        <p:txBody>
          <a:bodyPr/>
          <a:lstStyle/>
          <a:p>
            <a:endParaRPr lang="en-US"/>
          </a:p>
        </p:txBody>
      </p:sp>
      <p:sp>
        <p:nvSpPr>
          <p:cNvPr id="3" name="Freeform 3"/>
          <p:cNvSpPr/>
          <p:nvPr/>
        </p:nvSpPr>
        <p:spPr>
          <a:xfrm>
            <a:off x="-1624997" y="7896035"/>
            <a:ext cx="5747719" cy="3384081"/>
          </a:xfrm>
          <a:custGeom>
            <a:avLst/>
            <a:gdLst/>
            <a:ahLst/>
            <a:cxnLst/>
            <a:rect l="l" t="t" r="r" b="b"/>
            <a:pathLst>
              <a:path w="5747719" h="3384081">
                <a:moveTo>
                  <a:pt x="0" y="0"/>
                </a:moveTo>
                <a:lnTo>
                  <a:pt x="5747719" y="0"/>
                </a:lnTo>
                <a:lnTo>
                  <a:pt x="5747719" y="3384081"/>
                </a:lnTo>
                <a:lnTo>
                  <a:pt x="0" y="3384081"/>
                </a:lnTo>
                <a:lnTo>
                  <a:pt x="0" y="0"/>
                </a:lnTo>
                <a:close/>
              </a:path>
            </a:pathLst>
          </a:custGeom>
          <a:blipFill>
            <a:blip r:embed="rId3"/>
            <a:stretch>
              <a:fillRect l="-18302" b="-143185"/>
            </a:stretch>
          </a:blipFill>
        </p:spPr>
        <p:txBody>
          <a:bodyPr/>
          <a:lstStyle/>
          <a:p>
            <a:endParaRPr lang="en-US"/>
          </a:p>
        </p:txBody>
      </p:sp>
      <p:sp>
        <p:nvSpPr>
          <p:cNvPr id="4" name="Freeform 4"/>
          <p:cNvSpPr/>
          <p:nvPr/>
        </p:nvSpPr>
        <p:spPr>
          <a:xfrm>
            <a:off x="7196037" y="8607890"/>
            <a:ext cx="650410" cy="650410"/>
          </a:xfrm>
          <a:custGeom>
            <a:avLst/>
            <a:gdLst/>
            <a:ahLst/>
            <a:cxnLst/>
            <a:rect l="l" t="t" r="r" b="b"/>
            <a:pathLst>
              <a:path w="650410" h="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942975" y="1706421"/>
            <a:ext cx="5886506" cy="9239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PROJECT DEMO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28665" y="645697"/>
            <a:ext cx="16598104" cy="995428"/>
            <a:chOff x="0" y="0"/>
            <a:chExt cx="4371517" cy="262170"/>
          </a:xfrm>
        </p:grpSpPr>
        <p:sp>
          <p:nvSpPr>
            <p:cNvPr id="3" name="Freeform 3"/>
            <p:cNvSpPr/>
            <p:nvPr/>
          </p:nvSpPr>
          <p:spPr>
            <a:xfrm>
              <a:off x="0" y="0"/>
              <a:ext cx="4371517" cy="262170"/>
            </a:xfrm>
            <a:custGeom>
              <a:avLst/>
              <a:gdLst/>
              <a:ahLst/>
              <a:cxnLst/>
              <a:rect l="l" t="t" r="r" b="b"/>
              <a:pathLst>
                <a:path w="4371517" h="262170">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txBody>
            <a:bodyPr/>
            <a:lstStyle/>
            <a:p>
              <a:endParaRPr lang="en-US"/>
            </a:p>
          </p:txBody>
        </p:sp>
        <p:sp>
          <p:nvSpPr>
            <p:cNvPr id="4" name="TextBox 4"/>
            <p:cNvSpPr txBox="1"/>
            <p:nvPr/>
          </p:nvSpPr>
          <p:spPr>
            <a:xfrm>
              <a:off x="0" y="-38100"/>
              <a:ext cx="4371517" cy="30027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2100837" flipH="1">
            <a:off x="8982673" y="428119"/>
            <a:ext cx="8310061" cy="8781453"/>
          </a:xfrm>
          <a:custGeom>
            <a:avLst/>
            <a:gdLst/>
            <a:ahLst/>
            <a:cxnLst/>
            <a:rect l="l" t="t" r="r" b="b"/>
            <a:pathLst>
              <a:path w="8310061" h="8781453">
                <a:moveTo>
                  <a:pt x="8310061" y="0"/>
                </a:moveTo>
                <a:lnTo>
                  <a:pt x="0" y="0"/>
                </a:lnTo>
                <a:lnTo>
                  <a:pt x="0" y="8781453"/>
                </a:lnTo>
                <a:lnTo>
                  <a:pt x="8310061" y="8781453"/>
                </a:lnTo>
                <a:lnTo>
                  <a:pt x="8310061" y="0"/>
                </a:lnTo>
                <a:close/>
              </a:path>
            </a:pathLst>
          </a:custGeom>
          <a:blipFill>
            <a:blip r:embed="rId2"/>
            <a:stretch>
              <a:fillRect r="-381" b="-1869"/>
            </a:stretch>
          </a:blipFill>
        </p:spPr>
        <p:txBody>
          <a:bodyPr/>
          <a:lstStyle/>
          <a:p>
            <a:endParaRPr lang="en-US"/>
          </a:p>
        </p:txBody>
      </p:sp>
      <p:sp>
        <p:nvSpPr>
          <p:cNvPr id="6" name="Freeform 6"/>
          <p:cNvSpPr/>
          <p:nvPr/>
        </p:nvSpPr>
        <p:spPr>
          <a:xfrm>
            <a:off x="12850445" y="9258300"/>
            <a:ext cx="428625" cy="428625"/>
          </a:xfrm>
          <a:custGeom>
            <a:avLst/>
            <a:gdLst/>
            <a:ahLst/>
            <a:cxnLst/>
            <a:rect l="l" t="t" r="r" b="b"/>
            <a:pathLst>
              <a:path w="428625" h="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7173813" y="9258300"/>
            <a:ext cx="428625" cy="428625"/>
          </a:xfrm>
          <a:custGeom>
            <a:avLst/>
            <a:gdLst/>
            <a:ahLst/>
            <a:cxnLst/>
            <a:rect l="l" t="t" r="r" b="b"/>
            <a:pathLst>
              <a:path w="428625" h="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928665" y="9258300"/>
            <a:ext cx="428625" cy="428625"/>
          </a:xfrm>
          <a:custGeom>
            <a:avLst/>
            <a:gdLst/>
            <a:ahLst/>
            <a:cxnLst/>
            <a:rect l="l" t="t" r="r" b="b"/>
            <a:pathLst>
              <a:path w="428625" h="428625">
                <a:moveTo>
                  <a:pt x="0" y="0"/>
                </a:moveTo>
                <a:lnTo>
                  <a:pt x="428625" y="0"/>
                </a:lnTo>
                <a:lnTo>
                  <a:pt x="428625" y="428625"/>
                </a:lnTo>
                <a:lnTo>
                  <a:pt x="0" y="42862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1171305" y="879197"/>
            <a:ext cx="528429" cy="528429"/>
          </a:xfrm>
          <a:custGeom>
            <a:avLst/>
            <a:gdLst/>
            <a:ahLst/>
            <a:cxnLst/>
            <a:rect l="l" t="t" r="r" b="b"/>
            <a:pathLst>
              <a:path w="528429" h="528429">
                <a:moveTo>
                  <a:pt x="0" y="0"/>
                </a:moveTo>
                <a:lnTo>
                  <a:pt x="528429" y="0"/>
                </a:lnTo>
                <a:lnTo>
                  <a:pt x="528429" y="528429"/>
                </a:lnTo>
                <a:lnTo>
                  <a:pt x="0" y="52842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0" name="TextBox 10"/>
          <p:cNvSpPr txBox="1"/>
          <p:nvPr/>
        </p:nvSpPr>
        <p:spPr>
          <a:xfrm>
            <a:off x="928665" y="3213525"/>
            <a:ext cx="11411477" cy="2203560"/>
          </a:xfrm>
          <a:prstGeom prst="rect">
            <a:avLst/>
          </a:prstGeom>
        </p:spPr>
        <p:txBody>
          <a:bodyPr lIns="0" tIns="0" rIns="0" bIns="0" rtlCol="0" anchor="t">
            <a:spAutoFit/>
          </a:bodyPr>
          <a:lstStyle/>
          <a:p>
            <a:pPr algn="l">
              <a:lnSpc>
                <a:spcPts val="15959"/>
              </a:lnSpc>
            </a:pPr>
            <a:r>
              <a:rPr lang="en-US" sz="14508" b="1">
                <a:solidFill>
                  <a:srgbClr val="FBF9F1"/>
                </a:solidFill>
                <a:latin typeface="Poppins Bold"/>
                <a:ea typeface="Poppins Bold"/>
                <a:cs typeface="Poppins Bold"/>
                <a:sym typeface="Poppins Bold"/>
              </a:rPr>
              <a:t>THANK YOU </a:t>
            </a:r>
          </a:p>
        </p:txBody>
      </p:sp>
      <p:sp>
        <p:nvSpPr>
          <p:cNvPr id="11" name="TextBox 11"/>
          <p:cNvSpPr txBox="1"/>
          <p:nvPr/>
        </p:nvSpPr>
        <p:spPr>
          <a:xfrm>
            <a:off x="1896669" y="882426"/>
            <a:ext cx="4535372" cy="464820"/>
          </a:xfrm>
          <a:prstGeom prst="rect">
            <a:avLst/>
          </a:prstGeom>
        </p:spPr>
        <p:txBody>
          <a:bodyPr lIns="0" tIns="0" rIns="0" bIns="0" rtlCol="0" anchor="t">
            <a:spAutoFit/>
          </a:bodyPr>
          <a:lstStyle/>
          <a:p>
            <a:pPr algn="l">
              <a:lnSpc>
                <a:spcPts val="3779"/>
              </a:lnSpc>
              <a:spcBef>
                <a:spcPct val="0"/>
              </a:spcBef>
            </a:pPr>
            <a:r>
              <a:rPr lang="en-US" sz="2700">
                <a:solidFill>
                  <a:srgbClr val="E5E1DA"/>
                </a:solidFill>
                <a:latin typeface="Lato"/>
                <a:ea typeface="Lato"/>
                <a:cs typeface="Lato"/>
                <a:sym typeface="Lato"/>
              </a:rPr>
              <a:t>Ingoude Company</a:t>
            </a:r>
          </a:p>
        </p:txBody>
      </p:sp>
      <p:sp>
        <p:nvSpPr>
          <p:cNvPr id="12" name="TextBox 12"/>
          <p:cNvSpPr txBox="1"/>
          <p:nvPr/>
        </p:nvSpPr>
        <p:spPr>
          <a:xfrm>
            <a:off x="928665" y="7119480"/>
            <a:ext cx="6096698" cy="566420"/>
          </a:xfrm>
          <a:prstGeom prst="rect">
            <a:avLst/>
          </a:prstGeom>
        </p:spPr>
        <p:txBody>
          <a:bodyPr lIns="0" tIns="0" rIns="0" bIns="0" rtlCol="0" anchor="t">
            <a:spAutoFit/>
          </a:bodyPr>
          <a:lstStyle/>
          <a:p>
            <a:pPr algn="l">
              <a:lnSpc>
                <a:spcPts val="4480"/>
              </a:lnSpc>
              <a:spcBef>
                <a:spcPct val="0"/>
              </a:spcBef>
            </a:pPr>
            <a:r>
              <a:rPr lang="en-US" sz="3200">
                <a:solidFill>
                  <a:srgbClr val="E5E1DA"/>
                </a:solidFill>
                <a:latin typeface="Poppins"/>
                <a:ea typeface="Poppins"/>
                <a:cs typeface="Poppins"/>
                <a:sym typeface="Poppins"/>
              </a:rPr>
              <a:t>Present by Neil Tran </a:t>
            </a:r>
          </a:p>
        </p:txBody>
      </p:sp>
      <p:sp>
        <p:nvSpPr>
          <p:cNvPr id="13" name="TextBox 13"/>
          <p:cNvSpPr txBox="1"/>
          <p:nvPr/>
        </p:nvSpPr>
        <p:spPr>
          <a:xfrm>
            <a:off x="1529481" y="9244648"/>
            <a:ext cx="3572146" cy="398780"/>
          </a:xfrm>
          <a:prstGeom prst="rect">
            <a:avLst/>
          </a:prstGeom>
        </p:spPr>
        <p:txBody>
          <a:bodyPr lIns="0" tIns="0" rIns="0" bIns="0" rtlCol="0" anchor="t">
            <a:spAutoFit/>
          </a:bodyPr>
          <a:lstStyle/>
          <a:p>
            <a:pPr algn="l">
              <a:lnSpc>
                <a:spcPts val="3220"/>
              </a:lnSpc>
              <a:spcBef>
                <a:spcPct val="0"/>
              </a:spcBef>
            </a:pPr>
            <a:r>
              <a:rPr lang="en-US" sz="2300">
                <a:solidFill>
                  <a:srgbClr val="E5E1DA"/>
                </a:solidFill>
                <a:latin typeface="Lato"/>
                <a:ea typeface="Lato"/>
                <a:cs typeface="Lato"/>
                <a:sym typeface="Lato"/>
              </a:rPr>
              <a:t>www.reallygreatsite.com </a:t>
            </a:r>
          </a:p>
        </p:txBody>
      </p:sp>
      <p:sp>
        <p:nvSpPr>
          <p:cNvPr id="14" name="TextBox 14"/>
          <p:cNvSpPr txBox="1"/>
          <p:nvPr/>
        </p:nvSpPr>
        <p:spPr>
          <a:xfrm>
            <a:off x="7773888" y="9244648"/>
            <a:ext cx="3725926" cy="398780"/>
          </a:xfrm>
          <a:prstGeom prst="rect">
            <a:avLst/>
          </a:prstGeom>
        </p:spPr>
        <p:txBody>
          <a:bodyPr lIns="0" tIns="0" rIns="0" bIns="0" rtlCol="0" anchor="t">
            <a:spAutoFit/>
          </a:bodyPr>
          <a:lstStyle/>
          <a:p>
            <a:pPr algn="l">
              <a:lnSpc>
                <a:spcPts val="3220"/>
              </a:lnSpc>
              <a:spcBef>
                <a:spcPct val="0"/>
              </a:spcBef>
            </a:pPr>
            <a:r>
              <a:rPr lang="en-US" sz="2300">
                <a:solidFill>
                  <a:srgbClr val="E5E1DA"/>
                </a:solidFill>
                <a:latin typeface="Lato"/>
                <a:ea typeface="Lato"/>
                <a:cs typeface="Lato"/>
                <a:sym typeface="Lato"/>
              </a:rPr>
              <a:t>hello@reallygreatsite.com</a:t>
            </a:r>
          </a:p>
        </p:txBody>
      </p:sp>
      <p:sp>
        <p:nvSpPr>
          <p:cNvPr id="15" name="TextBox 15"/>
          <p:cNvSpPr txBox="1"/>
          <p:nvPr/>
        </p:nvSpPr>
        <p:spPr>
          <a:xfrm>
            <a:off x="13451260" y="9244648"/>
            <a:ext cx="4316991" cy="398780"/>
          </a:xfrm>
          <a:prstGeom prst="rect">
            <a:avLst/>
          </a:prstGeom>
        </p:spPr>
        <p:txBody>
          <a:bodyPr lIns="0" tIns="0" rIns="0" bIns="0" rtlCol="0" anchor="t">
            <a:spAutoFit/>
          </a:bodyPr>
          <a:lstStyle/>
          <a:p>
            <a:pPr algn="l">
              <a:lnSpc>
                <a:spcPts val="3220"/>
              </a:lnSpc>
              <a:spcBef>
                <a:spcPct val="0"/>
              </a:spcBef>
            </a:pPr>
            <a:r>
              <a:rPr lang="en-US" sz="2300">
                <a:solidFill>
                  <a:srgbClr val="E5E1DA"/>
                </a:solidFill>
                <a:latin typeface="Lato"/>
                <a:ea typeface="Lato"/>
                <a:cs typeface="Lato"/>
                <a:sym typeface="Lato"/>
              </a:rPr>
              <a:t>123 Anywhere Street., Any City</a:t>
            </a:r>
          </a:p>
        </p:txBody>
      </p:sp>
      <p:sp>
        <p:nvSpPr>
          <p:cNvPr id="16" name="TextBox 16"/>
          <p:cNvSpPr txBox="1"/>
          <p:nvPr/>
        </p:nvSpPr>
        <p:spPr>
          <a:xfrm>
            <a:off x="928665" y="5417085"/>
            <a:ext cx="11411477" cy="831853"/>
          </a:xfrm>
          <a:prstGeom prst="rect">
            <a:avLst/>
          </a:prstGeom>
        </p:spPr>
        <p:txBody>
          <a:bodyPr lIns="0" tIns="0" rIns="0" bIns="0" rtlCol="0" anchor="t">
            <a:spAutoFit/>
          </a:bodyPr>
          <a:lstStyle/>
          <a:p>
            <a:pPr algn="l">
              <a:lnSpc>
                <a:spcPts val="6050"/>
              </a:lnSpc>
            </a:pPr>
            <a:r>
              <a:rPr lang="en-US" sz="5500">
                <a:solidFill>
                  <a:srgbClr val="FBF9F1"/>
                </a:solidFill>
                <a:latin typeface="Poppins"/>
                <a:ea typeface="Poppins"/>
                <a:cs typeface="Poppins"/>
                <a:sym typeface="Poppins"/>
              </a:rPr>
              <a:t>for your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58ef55f-b653-4669-97e5-01cd2b0a8979" xsi:nil="true"/>
    <lcf76f155ced4ddcb4097134ff3c332f xmlns="4be49045-f7aa-4f02-a89f-b2426299cef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CA63EC57E567149830A225B344592E1" ma:contentTypeVersion="13" ma:contentTypeDescription="Create a new document." ma:contentTypeScope="" ma:versionID="a8852712c1882ccd849da902cbfe67f4">
  <xsd:schema xmlns:xsd="http://www.w3.org/2001/XMLSchema" xmlns:xs="http://www.w3.org/2001/XMLSchema" xmlns:p="http://schemas.microsoft.com/office/2006/metadata/properties" xmlns:ns2="4be49045-f7aa-4f02-a89f-b2426299cef2" xmlns:ns3="058ef55f-b653-4669-97e5-01cd2b0a8979" targetNamespace="http://schemas.microsoft.com/office/2006/metadata/properties" ma:root="true" ma:fieldsID="e24203e88ed2c7b4f45b38c291f011fe" ns2:_="" ns3:_="">
    <xsd:import namespace="4be49045-f7aa-4f02-a89f-b2426299cef2"/>
    <xsd:import namespace="058ef55f-b653-4669-97e5-01cd2b0a8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9045-f7aa-4f02-a89f-b2426299c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8ef55f-b653-4669-97e5-01cd2b0a897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75017a5-0ad3-4082-b35c-316af742b161}" ma:internalName="TaxCatchAll" ma:showField="CatchAllData" ma:web="058ef55f-b653-4669-97e5-01cd2b0a89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ABFDC9-52CC-4182-A30B-81E97952C15D}">
  <ds:schemaRefs>
    <ds:schemaRef ds:uri="4be49045-f7aa-4f02-a89f-b2426299cef2"/>
    <ds:schemaRef ds:uri="http://schemas.openxmlformats.org/package/2006/metadata/core-properties"/>
    <ds:schemaRef ds:uri="http://www.w3.org/XML/1998/namespace"/>
    <ds:schemaRef ds:uri="http://schemas.microsoft.com/office/2006/metadata/properties"/>
    <ds:schemaRef ds:uri="http://purl.org/dc/dcmitype/"/>
    <ds:schemaRef ds:uri="http://schemas.microsoft.com/office/2006/documentManagement/types"/>
    <ds:schemaRef ds:uri="http://purl.org/dc/elements/1.1/"/>
    <ds:schemaRef ds:uri="http://schemas.microsoft.com/office/infopath/2007/PartnerControls"/>
    <ds:schemaRef ds:uri="058ef55f-b653-4669-97e5-01cd2b0a8979"/>
    <ds:schemaRef ds:uri="http://purl.org/dc/terms/"/>
  </ds:schemaRefs>
</ds:datastoreItem>
</file>

<file path=customXml/itemProps2.xml><?xml version="1.0" encoding="utf-8"?>
<ds:datastoreItem xmlns:ds="http://schemas.openxmlformats.org/officeDocument/2006/customXml" ds:itemID="{5CCEB639-7315-4493-AAAD-EEA6A875E360}">
  <ds:schemaRefs>
    <ds:schemaRef ds:uri="http://schemas.microsoft.com/sharepoint/v3/contenttype/forms"/>
  </ds:schemaRefs>
</ds:datastoreItem>
</file>

<file path=customXml/itemProps3.xml><?xml version="1.0" encoding="utf-8"?>
<ds:datastoreItem xmlns:ds="http://schemas.openxmlformats.org/officeDocument/2006/customXml" ds:itemID="{6E96EDD7-E40B-449B-A56D-1083F9673B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49045-f7aa-4f02-a89f-b2426299cef2"/>
    <ds:schemaRef ds:uri="058ef55f-b653-4669-97e5-01cd2b0a89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TotalTime>
  <Words>837</Words>
  <Application>Microsoft Office PowerPoint</Application>
  <PresentationFormat>Custom</PresentationFormat>
  <Paragraphs>115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Systems Lab, FAU</dc:title>
  <cp:lastModifiedBy>Ian Simmons</cp:lastModifiedBy>
  <cp:revision>12</cp:revision>
  <dcterms:created xsi:type="dcterms:W3CDTF">2006-08-16T00:00:00Z</dcterms:created>
  <dcterms:modified xsi:type="dcterms:W3CDTF">2024-12-08T17:31:54Z</dcterms:modified>
  <dc:identifier>DAGYiuwcYXk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0x010100FCA63EC57E567149830A225B344592E1</vt:lpwstr>
  </property>
  <property fmtid="{D5CDD505-2E9C-101B-9397-08002B2CF9AE}" pid="3" name="MediaServiceImageTags">
    <vt:lpwstr/>
  </property>
</Properties>
</file>